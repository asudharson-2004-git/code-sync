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98" r:id="rId1"/>
  </p:sldMasterIdLst>
  <p:sldIdLst>
    <p:sldId id="256" r:id="rId2"/>
    <p:sldId id="257" r:id="rId3"/>
    <p:sldId id="258" r:id="rId4"/>
    <p:sldId id="259" r:id="rId5"/>
    <p:sldId id="260" r:id="rId6"/>
    <p:sldId id="261" r:id="rId7"/>
    <p:sldId id="262" r:id="rId8"/>
    <p:sldId id="264" r:id="rId9"/>
    <p:sldId id="265" r:id="rId10"/>
    <p:sldId id="266" r:id="rId11"/>
    <p:sldId id="269" r:id="rId12"/>
    <p:sldId id="270" r:id="rId13"/>
    <p:sldId id="271" r:id="rId14"/>
    <p:sldId id="272" r:id="rId15"/>
    <p:sldId id="273" r:id="rId16"/>
    <p:sldId id="274" r:id="rId17"/>
    <p:sldId id="275" r:id="rId18"/>
  </p:sldIdLst>
  <p:sldSz cx="18288000" cy="10287000"/>
  <p:notesSz cx="6858000" cy="9144000"/>
  <p:embeddedFontLst>
    <p:embeddedFont>
      <p:font typeface="Century Gothic" panose="020B0502020202020204" pitchFamily="34" charset="0"/>
      <p:regular r:id="rId19"/>
      <p:bold r:id="rId20"/>
      <p:italic r:id="rId21"/>
      <p:boldItalic r:id="rId22"/>
    </p:embeddedFont>
    <p:embeddedFont>
      <p:font typeface="Century Gothic Paneuropean" panose="020B0604020202020204" charset="0"/>
      <p:regular r:id="rId23"/>
    </p:embeddedFont>
    <p:embeddedFont>
      <p:font typeface="Century Gothic Paneuropean Bold" panose="020B0604020202020204" charset="0"/>
      <p:regular r:id="rId24"/>
    </p:embeddedFont>
    <p:embeddedFont>
      <p:font typeface="Corbel" panose="020B0503020204020204" pitchFamily="34" charset="0"/>
      <p:regular r:id="rId25"/>
      <p:bold r:id="rId26"/>
      <p:italic r:id="rId27"/>
      <p:boldItalic r:id="rId28"/>
    </p:embeddedFont>
    <p:embeddedFont>
      <p:font typeface="Glacial Indifference" panose="020B0604020202020204" charset="0"/>
      <p:regular r:id="rId29"/>
    </p:embeddedFont>
    <p:embeddedFont>
      <p:font typeface="Glacial Indifference Bold" panose="020B0604020202020204" charset="0"/>
      <p:regular r:id="rId30"/>
    </p:embeddedFont>
    <p:embeddedFont>
      <p:font typeface="Wingdings 3" panose="05040102010807070707" pitchFamily="18" charset="2"/>
      <p:regular r:id="rId3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83820" y="3771901"/>
            <a:ext cx="13373099" cy="3394172"/>
          </a:xfrm>
        </p:spPr>
        <p:txBody>
          <a:bodyPr anchor="b">
            <a:normAutofit/>
          </a:bodyPr>
          <a:lstStyle>
            <a:lvl1pPr>
              <a:defRPr sz="8100"/>
            </a:lvl1pPr>
          </a:lstStyle>
          <a:p>
            <a:r>
              <a:rPr lang="en-US"/>
              <a:t>Click to edit Master title style</a:t>
            </a:r>
            <a:endParaRPr lang="en-US" dirty="0"/>
          </a:p>
        </p:txBody>
      </p:sp>
      <p:sp>
        <p:nvSpPr>
          <p:cNvPr id="3" name="Subtitle 2"/>
          <p:cNvSpPr>
            <a:spLocks noGrp="1"/>
          </p:cNvSpPr>
          <p:nvPr>
            <p:ph type="subTitle" idx="1"/>
          </p:nvPr>
        </p:nvSpPr>
        <p:spPr>
          <a:xfrm>
            <a:off x="3883820" y="7166069"/>
            <a:ext cx="13373099" cy="1689425"/>
          </a:xfrm>
        </p:spPr>
        <p:txBody>
          <a:bodyPr anchor="t"/>
          <a:lstStyle>
            <a:lvl1pPr marL="0" indent="0" algn="l">
              <a:buNone/>
              <a:defRPr>
                <a:solidFill>
                  <a:schemeClr val="tx1">
                    <a:lumMod val="65000"/>
                    <a:lumOff val="35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6485716"/>
            <a:ext cx="2616978" cy="1167884"/>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797719" y="6794311"/>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54288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89388" y="936165"/>
            <a:ext cx="13367531" cy="1921335"/>
          </a:xfrm>
        </p:spPr>
        <p:txBody>
          <a:bodyPr/>
          <a:lstStyle/>
          <a:p>
            <a:r>
              <a:rPr lang="en-US"/>
              <a:t>Click to edit Master title style</a:t>
            </a:r>
            <a:endParaRPr lang="en-US" dirty="0"/>
          </a:p>
        </p:txBody>
      </p:sp>
      <p:sp>
        <p:nvSpPr>
          <p:cNvPr id="3" name="Content Placeholder 2"/>
          <p:cNvSpPr>
            <a:spLocks noGrp="1"/>
          </p:cNvSpPr>
          <p:nvPr>
            <p:ph idx="1"/>
          </p:nvPr>
        </p:nvSpPr>
        <p:spPr>
          <a:xfrm>
            <a:off x="3883818" y="3200400"/>
            <a:ext cx="13373100" cy="56664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7991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83819" y="3088125"/>
            <a:ext cx="13373099" cy="2203200"/>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3883819" y="5295194"/>
            <a:ext cx="13373099" cy="1290600"/>
          </a:xfrm>
        </p:spPr>
        <p:txBody>
          <a:bodyPr anchor="t"/>
          <a:lstStyle>
            <a:lvl1pPr marL="0" indent="0" algn="l">
              <a:buNone/>
              <a:defRPr sz="3000">
                <a:solidFill>
                  <a:schemeClr val="tx1">
                    <a:lumMod val="65000"/>
                    <a:lumOff val="3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6283" y="47672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797719" y="4866209"/>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07086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818" y="3200400"/>
            <a:ext cx="6470796" cy="56664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786121" y="3189333"/>
            <a:ext cx="6470796" cy="56664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797719" y="1181674"/>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74242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4409060" y="2959055"/>
            <a:ext cx="5989098"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3883819" y="3823449"/>
            <a:ext cx="6514340" cy="503109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259944" y="2954213"/>
            <a:ext cx="5998502"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10750436" y="3818607"/>
            <a:ext cx="6508011" cy="503109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2/23/2026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797719" y="1181674"/>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26040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2/23/2026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42481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7277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83819" y="669132"/>
            <a:ext cx="5257799" cy="1464468"/>
          </a:xfrm>
        </p:spPr>
        <p:txBody>
          <a:bodyPr anchor="b"/>
          <a:lstStyle>
            <a:lvl1pPr algn="l">
              <a:defRPr sz="3000" b="0"/>
            </a:lvl1pPr>
          </a:lstStyle>
          <a:p>
            <a:r>
              <a:rPr lang="en-US"/>
              <a:t>Click to edit Master title style</a:t>
            </a:r>
            <a:endParaRPr lang="en-US" dirty="0"/>
          </a:p>
        </p:txBody>
      </p:sp>
      <p:sp>
        <p:nvSpPr>
          <p:cNvPr id="3" name="Content Placeholder 2"/>
          <p:cNvSpPr>
            <a:spLocks noGrp="1"/>
          </p:cNvSpPr>
          <p:nvPr>
            <p:ph idx="1"/>
          </p:nvPr>
        </p:nvSpPr>
        <p:spPr>
          <a:xfrm>
            <a:off x="9484518" y="669133"/>
            <a:ext cx="7772400" cy="812244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83819" y="2397920"/>
            <a:ext cx="5257799" cy="6393654"/>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0074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83820" y="7200900"/>
            <a:ext cx="13373100"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3818" y="952448"/>
            <a:ext cx="13373100" cy="5782455"/>
          </a:xfrm>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3883820" y="8051007"/>
            <a:ext cx="13373100" cy="740568"/>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6283" y="7367588"/>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797719" y="7474631"/>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0275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3883819" y="914400"/>
            <a:ext cx="13373099" cy="4675560"/>
          </a:xfrm>
        </p:spPr>
        <p:txBody>
          <a:bodyPr anchor="ctr">
            <a:normAutofit/>
          </a:bodyPr>
          <a:lstStyle>
            <a:lvl1pPr algn="l">
              <a:defRPr sz="7200" b="0" cap="none"/>
            </a:lvl1pPr>
          </a:lstStyle>
          <a:p>
            <a:r>
              <a:rPr lang="en-US"/>
              <a:t>Click to edit Master title style</a:t>
            </a:r>
            <a:endParaRPr lang="en-US" dirty="0"/>
          </a:p>
        </p:txBody>
      </p:sp>
      <p:sp>
        <p:nvSpPr>
          <p:cNvPr id="3" name="Text Placeholder 2"/>
          <p:cNvSpPr>
            <a:spLocks noGrp="1"/>
          </p:cNvSpPr>
          <p:nvPr>
            <p:ph type="body" idx="1"/>
          </p:nvPr>
        </p:nvSpPr>
        <p:spPr>
          <a:xfrm>
            <a:off x="3883819" y="6531069"/>
            <a:ext cx="13373099" cy="2333796"/>
          </a:xfrm>
        </p:spPr>
        <p:txBody>
          <a:bodyPr anchor="ctr">
            <a:normAutofit/>
          </a:bodyPr>
          <a:lstStyle>
            <a:lvl1pPr marL="0" indent="0" algn="l">
              <a:buNone/>
              <a:defRPr sz="2700">
                <a:solidFill>
                  <a:schemeClr val="tx1">
                    <a:lumMod val="65000"/>
                    <a:lumOff val="3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6283" y="47672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797719" y="4866209"/>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15407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274924" y="914400"/>
            <a:ext cx="12590889" cy="4343400"/>
          </a:xfrm>
        </p:spPr>
        <p:txBody>
          <a:bodyPr anchor="ctr">
            <a:normAutofit/>
          </a:bodyPr>
          <a:lstStyle>
            <a:lvl1pPr algn="l">
              <a:defRPr sz="72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4912518" y="5257800"/>
            <a:ext cx="11304831" cy="571500"/>
          </a:xfrm>
        </p:spPr>
        <p:txBody>
          <a:bodyPr anchor="ctr">
            <a:noAutofit/>
          </a:bodyPr>
          <a:lstStyle>
            <a:lvl1pPr marL="0" indent="0">
              <a:buFontTx/>
              <a:buNone/>
              <a:defRPr sz="2400">
                <a:solidFill>
                  <a:schemeClr val="tx1">
                    <a:lumMod val="50000"/>
                    <a:lumOff val="50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3883819" y="6531069"/>
            <a:ext cx="13373099" cy="2333796"/>
          </a:xfrm>
        </p:spPr>
        <p:txBody>
          <a:bodyPr anchor="ctr">
            <a:normAutofit/>
          </a:bodyPr>
          <a:lstStyle>
            <a:lvl1pPr marL="0" indent="0" algn="l">
              <a:buNone/>
              <a:defRPr sz="2700">
                <a:solidFill>
                  <a:schemeClr val="tx1">
                    <a:lumMod val="65000"/>
                    <a:lumOff val="3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6283" y="47672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797719" y="4866209"/>
            <a:ext cx="1169651" cy="547688"/>
          </a:xfrm>
        </p:spPr>
        <p:txBody>
          <a:bodyPr/>
          <a:lstStyle/>
          <a:p>
            <a:fld id="{B6F15528-21DE-4FAA-801E-634DDDAF4B2B}" type="slidenum">
              <a:rPr lang="en-US" smtClean="0"/>
              <a:pPr/>
              <a:t>‹#›</a:t>
            </a:fld>
            <a:endParaRPr lang="en-US"/>
          </a:p>
        </p:txBody>
      </p:sp>
      <p:sp>
        <p:nvSpPr>
          <p:cNvPr id="14" name="TextBox 13"/>
          <p:cNvSpPr txBox="1"/>
          <p:nvPr/>
        </p:nvSpPr>
        <p:spPr>
          <a:xfrm>
            <a:off x="3701478" y="972008"/>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solidFill>
                <a:effectLst/>
                <a:latin typeface="Arial"/>
              </a:rPr>
              <a:t>“</a:t>
            </a:r>
          </a:p>
        </p:txBody>
      </p:sp>
      <p:sp>
        <p:nvSpPr>
          <p:cNvPr id="15" name="TextBox 14"/>
          <p:cNvSpPr txBox="1"/>
          <p:nvPr/>
        </p:nvSpPr>
        <p:spPr>
          <a:xfrm>
            <a:off x="16672278" y="4357959"/>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66996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3883820" y="3657601"/>
            <a:ext cx="13373100" cy="4087268"/>
          </a:xfrm>
        </p:spPr>
        <p:txBody>
          <a:bodyPr anchor="b">
            <a:normAutofit/>
          </a:bodyPr>
          <a:lstStyle>
            <a:lvl1pPr algn="l">
              <a:defRPr sz="7200" b="0"/>
            </a:lvl1pPr>
          </a:lstStyle>
          <a:p>
            <a:r>
              <a:rPr lang="en-US"/>
              <a:t>Click to edit Master title style</a:t>
            </a:r>
            <a:endParaRPr lang="en-US" dirty="0"/>
          </a:p>
        </p:txBody>
      </p:sp>
      <p:sp>
        <p:nvSpPr>
          <p:cNvPr id="4" name="Text Placeholder 3"/>
          <p:cNvSpPr>
            <a:spLocks noGrp="1"/>
          </p:cNvSpPr>
          <p:nvPr>
            <p:ph type="body" sz="half" idx="2"/>
          </p:nvPr>
        </p:nvSpPr>
        <p:spPr>
          <a:xfrm>
            <a:off x="3883820" y="7772400"/>
            <a:ext cx="13373100" cy="1094433"/>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6283" y="7367588"/>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797719" y="7474631"/>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33996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4274924" y="914400"/>
            <a:ext cx="12590889" cy="4343400"/>
          </a:xfrm>
        </p:spPr>
        <p:txBody>
          <a:bodyPr anchor="ctr">
            <a:normAutofit/>
          </a:bodyPr>
          <a:lstStyle>
            <a:lvl1pPr algn="l">
              <a:defRPr sz="72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3883818" y="6515100"/>
            <a:ext cx="13373100" cy="1257300"/>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3883820" y="7772400"/>
            <a:ext cx="13373100" cy="1094433"/>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6283" y="7367588"/>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797719" y="7474631"/>
            <a:ext cx="1169651" cy="547688"/>
          </a:xfrm>
        </p:spPr>
        <p:txBody>
          <a:bodyPr/>
          <a:lstStyle/>
          <a:p>
            <a:fld id="{B6F15528-21DE-4FAA-801E-634DDDAF4B2B}" type="slidenum">
              <a:rPr lang="en-US" smtClean="0"/>
              <a:pPr/>
              <a:t>‹#›</a:t>
            </a:fld>
            <a:endParaRPr lang="en-US"/>
          </a:p>
        </p:txBody>
      </p:sp>
      <p:sp>
        <p:nvSpPr>
          <p:cNvPr id="17" name="TextBox 16"/>
          <p:cNvSpPr txBox="1"/>
          <p:nvPr/>
        </p:nvSpPr>
        <p:spPr>
          <a:xfrm>
            <a:off x="3701478" y="972008"/>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solidFill>
                <a:effectLst/>
                <a:latin typeface="Arial"/>
              </a:rPr>
              <a:t>“</a:t>
            </a:r>
          </a:p>
        </p:txBody>
      </p:sp>
      <p:sp>
        <p:nvSpPr>
          <p:cNvPr id="18" name="TextBox 17"/>
          <p:cNvSpPr txBox="1"/>
          <p:nvPr/>
        </p:nvSpPr>
        <p:spPr>
          <a:xfrm>
            <a:off x="16672278" y="4357959"/>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45021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3883819" y="941111"/>
            <a:ext cx="13373099" cy="4320030"/>
          </a:xfrm>
        </p:spPr>
        <p:txBody>
          <a:bodyPr anchor="ctr">
            <a:normAutofit/>
          </a:bodyPr>
          <a:lstStyle>
            <a:lvl1pPr algn="l">
              <a:defRPr sz="7200" b="0"/>
            </a:lvl1pPr>
          </a:lstStyle>
          <a:p>
            <a:r>
              <a:rPr lang="en-US"/>
              <a:t>Click to edit Master title style</a:t>
            </a:r>
            <a:endParaRPr lang="en-US" dirty="0"/>
          </a:p>
        </p:txBody>
      </p:sp>
      <p:sp>
        <p:nvSpPr>
          <p:cNvPr id="21" name="Text Placeholder 9"/>
          <p:cNvSpPr>
            <a:spLocks noGrp="1"/>
          </p:cNvSpPr>
          <p:nvPr>
            <p:ph type="body" sz="quarter" idx="13"/>
          </p:nvPr>
        </p:nvSpPr>
        <p:spPr>
          <a:xfrm>
            <a:off x="3883818" y="6515100"/>
            <a:ext cx="13373100" cy="1257300"/>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3883820" y="7772400"/>
            <a:ext cx="13373100" cy="1094433"/>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6283" y="7367588"/>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797719" y="7474631"/>
            <a:ext cx="11696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963496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031950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942219" y="941108"/>
            <a:ext cx="3311402" cy="7925726"/>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3883818" y="941108"/>
            <a:ext cx="9715500" cy="7925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6283" y="1071563"/>
            <a:ext cx="2382791" cy="76094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1880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2" y="342900"/>
            <a:ext cx="4277274" cy="9957942"/>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40832" y="-1179"/>
            <a:ext cx="3535011" cy="1028105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274320" cy="10287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3889387" y="936165"/>
            <a:ext cx="13367531" cy="19213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3883818" y="3200400"/>
            <a:ext cx="13373100" cy="5829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542419" y="9195656"/>
            <a:ext cx="1719425" cy="555594"/>
          </a:xfrm>
          <a:prstGeom prst="rect">
            <a:avLst/>
          </a:prstGeom>
        </p:spPr>
        <p:txBody>
          <a:bodyPr vert="horz" lIns="91440" tIns="45720" rIns="91440" bIns="45720" rtlCol="0" anchor="ctr"/>
          <a:lstStyle>
            <a:lvl1pPr algn="r">
              <a:defRPr sz="1350">
                <a:solidFill>
                  <a:schemeClr val="tx1">
                    <a:tint val="75000"/>
                  </a:schemeClr>
                </a:solidFill>
              </a:defRPr>
            </a:lvl1pPr>
          </a:lstStyle>
          <a:p>
            <a:fld id="{1D8BD707-D9CF-40AE-B4C6-C98DA3205C09}" type="datetimeFigureOut">
              <a:rPr lang="en-US" smtClean="0"/>
              <a:pPr/>
              <a:t>2/23/2026</a:t>
            </a:fld>
            <a:endParaRPr lang="en-US"/>
          </a:p>
        </p:txBody>
      </p:sp>
      <p:sp>
        <p:nvSpPr>
          <p:cNvPr id="5" name="Footer Placeholder 4"/>
          <p:cNvSpPr>
            <a:spLocks noGrp="1"/>
          </p:cNvSpPr>
          <p:nvPr>
            <p:ph type="ftr" sz="quarter" idx="3"/>
          </p:nvPr>
        </p:nvSpPr>
        <p:spPr>
          <a:xfrm>
            <a:off x="3883819" y="9203713"/>
            <a:ext cx="11429999" cy="547688"/>
          </a:xfrm>
          <a:prstGeom prst="rect">
            <a:avLst/>
          </a:prstGeom>
        </p:spPr>
        <p:txBody>
          <a:bodyPr vert="horz" lIns="91440" tIns="45720" rIns="91440" bIns="45720" rtlCol="0" anchor="ctr"/>
          <a:lstStyle>
            <a:lvl1pPr algn="l">
              <a:defRPr sz="135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797719" y="1181674"/>
            <a:ext cx="1169651" cy="547688"/>
          </a:xfrm>
          <a:prstGeom prst="rect">
            <a:avLst/>
          </a:prstGeom>
        </p:spPr>
        <p:txBody>
          <a:bodyPr vert="horz" lIns="91440" tIns="45720" rIns="91440" bIns="45720" rtlCol="0" anchor="ctr"/>
          <a:lstStyle>
            <a:lvl1pPr algn="r">
              <a:defRPr sz="3000">
                <a:solidFill>
                  <a:srgbClr val="FEFFFF"/>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530542346"/>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Lst>
  <p:txStyles>
    <p:titleStyle>
      <a:lvl1pPr algn="l" defTabSz="6858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Font typeface="Wingdings 3" charset="2"/>
        <a:buChar char=""/>
        <a:defRPr sz="270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Font typeface="Wingdings 3" charset="2"/>
        <a:buChar char=""/>
        <a:defRPr sz="240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Font typeface="Wingdings 3" charset="2"/>
        <a:buChar char=""/>
        <a:defRPr sz="210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jurnal.polbeng.ac.id/index.php/ISI/article/view/505?utm_source=chatgpt.com"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jurnal.polbeng.ac.id/index.php/ISI/article/view/1235?utm_source=chatgpt.com" TargetMode="External"/><Relationship Id="rId2" Type="http://schemas.openxmlformats.org/officeDocument/2006/relationships/hyperlink" Target="https://www.ijraset.com/research-paper/real-time-collaborative-code-editor-a-web-based-synchronous-programming-platform?utm_source=chatgpt.com"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ijisae.org/index.php/IJISAE/article/view/7000?utm_source=chatgpt.com"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www.ijraset.com/research-paper/static-and-contextual-text-vectorization-for-sentiment-analysis?utm_source=chatgpt.com"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34754" y="2989923"/>
            <a:ext cx="13018493" cy="842538"/>
          </a:xfrm>
          <a:prstGeom prst="rect">
            <a:avLst/>
          </a:prstGeom>
        </p:spPr>
        <p:txBody>
          <a:bodyPr lIns="0" tIns="0" rIns="0" bIns="0" rtlCol="0" anchor="t">
            <a:spAutoFit/>
          </a:bodyPr>
          <a:lstStyle/>
          <a:p>
            <a:pPr algn="ctr">
              <a:lnSpc>
                <a:spcPts val="7000"/>
              </a:lnSpc>
            </a:pPr>
            <a:r>
              <a:rPr lang="en-US" sz="5000" b="1" dirty="0">
                <a:solidFill>
                  <a:srgbClr val="000000"/>
                </a:solidFill>
                <a:latin typeface="Corbel" panose="020B0503020204020204" pitchFamily="34" charset="0"/>
                <a:ea typeface="Century Gothic Paneuropean Bold"/>
                <a:cs typeface="Century Gothic Paneuropean Bold"/>
                <a:sym typeface="Century Gothic Paneuropean Bold"/>
              </a:rPr>
              <a:t>ADVANCED CODE COLLABORATION SYNCER</a:t>
            </a:r>
          </a:p>
        </p:txBody>
      </p:sp>
      <p:sp>
        <p:nvSpPr>
          <p:cNvPr id="3" name="TextBox 3"/>
          <p:cNvSpPr txBox="1"/>
          <p:nvPr/>
        </p:nvSpPr>
        <p:spPr>
          <a:xfrm>
            <a:off x="3709571" y="4997955"/>
            <a:ext cx="8522150" cy="2647950"/>
          </a:xfrm>
          <a:prstGeom prst="rect">
            <a:avLst/>
          </a:prstGeom>
        </p:spPr>
        <p:txBody>
          <a:bodyPr lIns="0" tIns="0" rIns="0" bIns="0" rtlCol="0" anchor="t">
            <a:spAutoFit/>
          </a:bodyPr>
          <a:lstStyle/>
          <a:p>
            <a:pPr algn="l">
              <a:lnSpc>
                <a:spcPts val="4200"/>
              </a:lnSpc>
            </a:pPr>
            <a:r>
              <a:rPr lang="en-US" sz="3000" dirty="0">
                <a:solidFill>
                  <a:schemeClr val="tx1">
                    <a:lumMod val="75000"/>
                    <a:lumOff val="25000"/>
                  </a:schemeClr>
                </a:solidFill>
                <a:latin typeface="Century Gothic Paneuropean"/>
                <a:ea typeface="Century Gothic Paneuropean"/>
                <a:cs typeface="Century Gothic Paneuropean"/>
                <a:sym typeface="Century Gothic Paneuropean"/>
              </a:rPr>
              <a:t>Presented by</a:t>
            </a:r>
          </a:p>
          <a:p>
            <a:pPr algn="l">
              <a:lnSpc>
                <a:spcPts val="4200"/>
              </a:lnSpc>
            </a:pPr>
            <a:r>
              <a:rPr lang="en-US" sz="3000" dirty="0" err="1">
                <a:solidFill>
                  <a:schemeClr val="tx1">
                    <a:lumMod val="75000"/>
                    <a:lumOff val="25000"/>
                  </a:schemeClr>
                </a:solidFill>
                <a:latin typeface="Century Gothic Paneuropean"/>
                <a:ea typeface="Century Gothic Paneuropean"/>
                <a:cs typeface="Century Gothic Paneuropean"/>
                <a:sym typeface="Century Gothic Paneuropean"/>
              </a:rPr>
              <a:t>Srivignesh</a:t>
            </a:r>
            <a:r>
              <a:rPr lang="en-US" sz="3000" dirty="0">
                <a:solidFill>
                  <a:schemeClr val="tx1">
                    <a:lumMod val="75000"/>
                    <a:lumOff val="25000"/>
                  </a:schemeClr>
                </a:solidFill>
                <a:latin typeface="Century Gothic Paneuropean"/>
                <a:ea typeface="Century Gothic Paneuropean"/>
                <a:cs typeface="Century Gothic Paneuropean"/>
                <a:sym typeface="Century Gothic Paneuropean"/>
              </a:rPr>
              <a:t> M (95072212153),</a:t>
            </a:r>
          </a:p>
          <a:p>
            <a:pPr algn="l">
              <a:lnSpc>
                <a:spcPts val="4200"/>
              </a:lnSpc>
            </a:pPr>
            <a:r>
              <a:rPr lang="en-US" sz="3000" dirty="0">
                <a:solidFill>
                  <a:schemeClr val="tx1">
                    <a:lumMod val="75000"/>
                    <a:lumOff val="25000"/>
                  </a:schemeClr>
                </a:solidFill>
                <a:latin typeface="Century Gothic Paneuropean"/>
                <a:ea typeface="Century Gothic Paneuropean"/>
                <a:cs typeface="Century Gothic Paneuropean"/>
                <a:sym typeface="Century Gothic Paneuropean"/>
              </a:rPr>
              <a:t>Sutharsun M (95072212162),</a:t>
            </a:r>
          </a:p>
          <a:p>
            <a:pPr algn="l">
              <a:lnSpc>
                <a:spcPts val="4200"/>
              </a:lnSpc>
            </a:pPr>
            <a:r>
              <a:rPr lang="en-US" sz="3000" dirty="0" err="1">
                <a:solidFill>
                  <a:schemeClr val="tx1">
                    <a:lumMod val="75000"/>
                    <a:lumOff val="25000"/>
                  </a:schemeClr>
                </a:solidFill>
                <a:latin typeface="Century Gothic Paneuropean"/>
                <a:ea typeface="Century Gothic Paneuropean"/>
                <a:cs typeface="Century Gothic Paneuropean"/>
                <a:sym typeface="Century Gothic Paneuropean"/>
              </a:rPr>
              <a:t>Sudharson</a:t>
            </a:r>
            <a:r>
              <a:rPr lang="en-US" sz="3000" dirty="0">
                <a:solidFill>
                  <a:schemeClr val="tx1">
                    <a:lumMod val="75000"/>
                    <a:lumOff val="25000"/>
                  </a:schemeClr>
                </a:solidFill>
                <a:latin typeface="Century Gothic Paneuropean"/>
                <a:ea typeface="Century Gothic Paneuropean"/>
                <a:cs typeface="Century Gothic Paneuropean"/>
                <a:sym typeface="Century Gothic Paneuropean"/>
              </a:rPr>
              <a:t> A (95072212158).</a:t>
            </a:r>
          </a:p>
          <a:p>
            <a:pPr algn="ctr">
              <a:lnSpc>
                <a:spcPts val="4200"/>
              </a:lnSpc>
            </a:pPr>
            <a:endParaRPr lang="en-US" sz="3000" dirty="0">
              <a:solidFill>
                <a:srgbClr val="000000"/>
              </a:solidFill>
              <a:latin typeface="Century Gothic Paneuropean"/>
              <a:ea typeface="Century Gothic Paneuropean"/>
              <a:cs typeface="Century Gothic Paneuropean"/>
              <a:sym typeface="Century Gothic Paneuropean"/>
            </a:endParaRP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7267304" y="8217367"/>
            <a:ext cx="13018493" cy="1047750"/>
          </a:xfrm>
          <a:prstGeom prst="rect">
            <a:avLst/>
          </a:prstGeom>
        </p:spPr>
        <p:txBody>
          <a:bodyPr lIns="0" tIns="0" rIns="0" bIns="0" rtlCol="0" anchor="t">
            <a:spAutoFit/>
          </a:bodyPr>
          <a:lstStyle/>
          <a:p>
            <a:pPr algn="ctr">
              <a:lnSpc>
                <a:spcPts val="4200"/>
              </a:lnSpc>
            </a:pPr>
            <a:r>
              <a:rPr lang="en-US" sz="3000" b="1" dirty="0">
                <a:solidFill>
                  <a:srgbClr val="000000"/>
                </a:solidFill>
                <a:latin typeface="Corbel" panose="020B0503020204020204" pitchFamily="34" charset="0"/>
                <a:ea typeface="Century Gothic Paneuropean Bold"/>
                <a:cs typeface="Century Gothic Paneuropean Bold"/>
                <a:sym typeface="Century Gothic Paneuropean Bold"/>
              </a:rPr>
              <a:t>PROJECT GUIDED BY,</a:t>
            </a:r>
          </a:p>
          <a:p>
            <a:pPr algn="ctr">
              <a:lnSpc>
                <a:spcPts val="4200"/>
              </a:lnSpc>
            </a:pPr>
            <a:r>
              <a:rPr lang="en-US" sz="3000" dirty="0" err="1">
                <a:solidFill>
                  <a:schemeClr val="tx1">
                    <a:lumMod val="75000"/>
                    <a:lumOff val="25000"/>
                  </a:schemeClr>
                </a:solidFill>
                <a:latin typeface="Corbel" panose="020B0503020204020204" pitchFamily="34" charset="0"/>
                <a:ea typeface="Century Gothic Paneuropean"/>
                <a:cs typeface="Century Gothic Paneuropean"/>
                <a:sym typeface="Century Gothic Paneuropean"/>
              </a:rPr>
              <a:t>DR.Euidol</a:t>
            </a:r>
            <a:r>
              <a:rPr lang="en-US" sz="3000" dirty="0">
                <a:solidFill>
                  <a:schemeClr val="tx1">
                    <a:lumMod val="75000"/>
                    <a:lumOff val="25000"/>
                  </a:schemeClr>
                </a:solidFill>
                <a:latin typeface="Corbel" panose="020B0503020204020204" pitchFamily="34" charset="0"/>
                <a:ea typeface="Century Gothic Paneuropean"/>
                <a:cs typeface="Century Gothic Paneuropean"/>
                <a:sym typeface="Century Gothic Paneuropean"/>
              </a:rPr>
              <a:t> (PROF/CSE)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875411" y="336272"/>
            <a:ext cx="8537178" cy="1392115"/>
          </a:xfrm>
          <a:prstGeom prst="rect">
            <a:avLst/>
          </a:prstGeom>
        </p:spPr>
        <p:txBody>
          <a:bodyPr lIns="0" tIns="0" rIns="0" bIns="0" rtlCol="0" anchor="t">
            <a:spAutoFit/>
          </a:bodyPr>
          <a:lstStyle/>
          <a:p>
            <a:pPr algn="ctr">
              <a:lnSpc>
                <a:spcPts val="11469"/>
              </a:lnSpc>
            </a:pPr>
            <a:r>
              <a:rPr lang="en-US" sz="8192" b="1" dirty="0">
                <a:solidFill>
                  <a:srgbClr val="000000"/>
                </a:solidFill>
                <a:latin typeface="Corbel" panose="020B0503020204020204" pitchFamily="34" charset="0"/>
                <a:ea typeface="Century Gothic Paneuropean Bold"/>
                <a:cs typeface="Century Gothic Paneuropean Bold"/>
                <a:sym typeface="Century Gothic Paneuropean Bold"/>
              </a:rPr>
              <a:t>ABSTRACT</a:t>
            </a:r>
          </a:p>
        </p:txBody>
      </p:sp>
      <p:sp>
        <p:nvSpPr>
          <p:cNvPr id="9" name="TextBox 9"/>
          <p:cNvSpPr txBox="1"/>
          <p:nvPr/>
        </p:nvSpPr>
        <p:spPr>
          <a:xfrm>
            <a:off x="1973513" y="1873048"/>
            <a:ext cx="14340974" cy="6396495"/>
          </a:xfrm>
          <a:prstGeom prst="rect">
            <a:avLst/>
          </a:prstGeom>
        </p:spPr>
        <p:txBody>
          <a:bodyPr lIns="0" tIns="0" rIns="0" bIns="0" rtlCol="0" anchor="t">
            <a:spAutoFit/>
          </a:bodyPr>
          <a:lstStyle/>
          <a:p>
            <a:pPr algn="just">
              <a:lnSpc>
                <a:spcPct val="150000"/>
              </a:lnSpc>
            </a:pPr>
            <a:r>
              <a:rPr lang="en-US" sz="2800" dirty="0">
                <a:solidFill>
                  <a:schemeClr val="tx1">
                    <a:lumMod val="65000"/>
                    <a:lumOff val="35000"/>
                  </a:schemeClr>
                </a:solidFill>
                <a:latin typeface="Corbel" panose="020B0503020204020204" pitchFamily="34" charset="0"/>
              </a:rPr>
              <a:t>In today’s modern software development world, teamwork and real-time collaboration have become very important. Many developers work from different locations, and they need an efficient way to write and manage code together. Traditional code editors do not provide built-in real-time collaboration features, so developers depend on separate tools for communication and file sharing. This reduces productivity and makes collaboration difficult. To solve this problem, we propose a </a:t>
            </a:r>
            <a:r>
              <a:rPr lang="en-US" sz="2800" b="1" dirty="0">
                <a:solidFill>
                  <a:schemeClr val="tx1">
                    <a:lumMod val="65000"/>
                    <a:lumOff val="35000"/>
                  </a:schemeClr>
                </a:solidFill>
                <a:latin typeface="Corbel" panose="020B0503020204020204" pitchFamily="34" charset="0"/>
              </a:rPr>
              <a:t>Collaborative Code Editor</a:t>
            </a:r>
            <a:r>
              <a:rPr lang="en-US" sz="2800" dirty="0">
                <a:solidFill>
                  <a:schemeClr val="tx1">
                    <a:lumMod val="65000"/>
                    <a:lumOff val="35000"/>
                  </a:schemeClr>
                </a:solidFill>
                <a:latin typeface="Corbel" panose="020B0503020204020204" pitchFamily="34" charset="0"/>
              </a:rPr>
              <a:t> inspired by Visual Studio Code. Our system allows users to log in using their Google account, create or join secure coding rooms, and work on the same code simultaneously in real-time. It also includes a chat feature for communication between team members. The main aim of this project is to improve team collaboration, increase coding efficiency, and provide a modern web-based development environment similar to VS Code.</a:t>
            </a:r>
            <a:endParaRPr lang="en-US" sz="2800" dirty="0">
              <a:solidFill>
                <a:schemeClr val="tx1">
                  <a:lumMod val="65000"/>
                  <a:lumOff val="35000"/>
                </a:schemeClr>
              </a:solidFill>
              <a:latin typeface="Corbel" panose="020B0503020204020204" pitchFamily="34" charset="0"/>
              <a:ea typeface="Century Gothic Paneuropean"/>
              <a:cs typeface="Century Gothic Paneuropean"/>
              <a:sym typeface="Century Gothic Paneuropean"/>
            </a:endParaRPr>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877123" y="256443"/>
            <a:ext cx="8537178" cy="1392115"/>
          </a:xfrm>
          <a:prstGeom prst="rect">
            <a:avLst/>
          </a:prstGeom>
        </p:spPr>
        <p:txBody>
          <a:bodyPr lIns="0" tIns="0" rIns="0" bIns="0" rtlCol="0" anchor="t">
            <a:spAutoFit/>
          </a:bodyPr>
          <a:lstStyle/>
          <a:p>
            <a:pPr algn="ctr">
              <a:lnSpc>
                <a:spcPts val="11469"/>
              </a:lnSpc>
            </a:pPr>
            <a:r>
              <a:rPr lang="en-US" sz="8192" b="1" dirty="0">
                <a:solidFill>
                  <a:srgbClr val="000000"/>
                </a:solidFill>
                <a:latin typeface="Corbel" panose="020B0503020204020204" pitchFamily="34" charset="0"/>
                <a:ea typeface="Century Gothic Paneuropean Bold"/>
                <a:cs typeface="Century Gothic Paneuropean Bold"/>
                <a:sym typeface="Century Gothic Paneuropean Bold"/>
              </a:rPr>
              <a:t>INTRODUCTION</a:t>
            </a:r>
          </a:p>
        </p:txBody>
      </p:sp>
      <p:sp>
        <p:nvSpPr>
          <p:cNvPr id="9" name="TextBox 9"/>
          <p:cNvSpPr txBox="1"/>
          <p:nvPr/>
        </p:nvSpPr>
        <p:spPr>
          <a:xfrm>
            <a:off x="1975224" y="1845624"/>
            <a:ext cx="15245975" cy="6396495"/>
          </a:xfrm>
          <a:prstGeom prst="rect">
            <a:avLst/>
          </a:prstGeom>
        </p:spPr>
        <p:txBody>
          <a:bodyPr wrap="square" lIns="0" tIns="0" rIns="0" bIns="0" rtlCol="0" anchor="t">
            <a:spAutoFit/>
          </a:bodyPr>
          <a:lstStyle/>
          <a:p>
            <a:pPr>
              <a:lnSpc>
                <a:spcPct val="150000"/>
              </a:lnSpc>
            </a:pPr>
            <a:r>
              <a:rPr lang="en-US" sz="2800" dirty="0">
                <a:solidFill>
                  <a:schemeClr val="tx1">
                    <a:lumMod val="75000"/>
                    <a:lumOff val="25000"/>
                  </a:schemeClr>
                </a:solidFill>
                <a:latin typeface="Corbel" panose="020B0503020204020204" pitchFamily="34" charset="0"/>
              </a:rPr>
              <a:t>Technology is rapidly evolving, and software development has become more collaborative than ever before. Modern development teams require tools that allow multiple programmers to work together efficiently, regardless of their physical location. Real-time collaboration reduces development time, improves communication, and enhances overall productivity. However, many traditional code editors are designed for individual use and lack integrated collaboration features.</a:t>
            </a:r>
          </a:p>
          <a:p>
            <a:pPr>
              <a:lnSpc>
                <a:spcPct val="150000"/>
              </a:lnSpc>
            </a:pPr>
            <a:r>
              <a:rPr lang="en-US" sz="2800" dirty="0">
                <a:solidFill>
                  <a:schemeClr val="tx1">
                    <a:lumMod val="75000"/>
                    <a:lumOff val="25000"/>
                  </a:schemeClr>
                </a:solidFill>
                <a:latin typeface="Corbel" panose="020B0503020204020204" pitchFamily="34" charset="0"/>
              </a:rPr>
              <a:t>To address this need, we developed a </a:t>
            </a:r>
            <a:r>
              <a:rPr lang="en-US" sz="2800" b="1" dirty="0">
                <a:solidFill>
                  <a:schemeClr val="tx1">
                    <a:lumMod val="75000"/>
                    <a:lumOff val="25000"/>
                  </a:schemeClr>
                </a:solidFill>
                <a:latin typeface="Corbel" panose="020B0503020204020204" pitchFamily="34" charset="0"/>
              </a:rPr>
              <a:t>Collaborative Code Editor</a:t>
            </a:r>
            <a:r>
              <a:rPr lang="en-US" sz="2800" dirty="0">
                <a:solidFill>
                  <a:schemeClr val="tx1">
                    <a:lumMod val="75000"/>
                    <a:lumOff val="25000"/>
                  </a:schemeClr>
                </a:solidFill>
                <a:latin typeface="Corbel" panose="020B0503020204020204" pitchFamily="34" charset="0"/>
              </a:rPr>
              <a:t>, a web-based platform that enables multiple users to write and edit code simultaneously in a shared environment. The system provides secure login, room-based collaboration, and integrated communication features. By combining real-time synchronization and an interface inspired by Visual Studio Code, this project aims to create an efficient and user-friendly coding experience for teams.</a:t>
            </a:r>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275336" y="130811"/>
            <a:ext cx="9937353" cy="1252853"/>
          </a:xfrm>
          <a:prstGeom prst="rect">
            <a:avLst/>
          </a:prstGeom>
        </p:spPr>
        <p:txBody>
          <a:bodyPr lIns="0" tIns="0" rIns="0" bIns="0" rtlCol="0" anchor="t">
            <a:spAutoFit/>
          </a:bodyPr>
          <a:lstStyle/>
          <a:p>
            <a:pPr algn="ctr">
              <a:lnSpc>
                <a:spcPts val="10220"/>
              </a:lnSpc>
            </a:pPr>
            <a:r>
              <a:rPr lang="en-US" sz="7300" b="1">
                <a:solidFill>
                  <a:srgbClr val="000000"/>
                </a:solidFill>
                <a:latin typeface="Century Gothic Paneuropean Bold"/>
                <a:ea typeface="Century Gothic Paneuropean Bold"/>
                <a:cs typeface="Century Gothic Paneuropean Bold"/>
                <a:sym typeface="Century Gothic Paneuropean Bold"/>
              </a:rPr>
              <a:t>REVIEW OF LITERATURE</a:t>
            </a:r>
          </a:p>
        </p:txBody>
      </p:sp>
      <p:sp>
        <p:nvSpPr>
          <p:cNvPr id="9" name="TextBox 9"/>
          <p:cNvSpPr txBox="1"/>
          <p:nvPr/>
        </p:nvSpPr>
        <p:spPr>
          <a:xfrm>
            <a:off x="1569057" y="1696163"/>
            <a:ext cx="15349910" cy="7630359"/>
          </a:xfrm>
          <a:prstGeom prst="rect">
            <a:avLst/>
          </a:prstGeom>
        </p:spPr>
        <p:txBody>
          <a:bodyPr lIns="0" tIns="0" rIns="0" bIns="0" rtlCol="0" anchor="t">
            <a:spAutoFit/>
          </a:bodyPr>
          <a:lstStyle/>
          <a:p>
            <a:pPr algn="just">
              <a:lnSpc>
                <a:spcPts val="4620"/>
              </a:lnSpc>
            </a:pPr>
            <a:r>
              <a:rPr lang="en-US" sz="3200" b="1" dirty="0">
                <a:solidFill>
                  <a:srgbClr val="000000"/>
                </a:solidFill>
                <a:latin typeface="Corbel" panose="020B0503020204020204" pitchFamily="34" charset="0"/>
                <a:ea typeface="Century Gothic Paneuropean Bold"/>
                <a:cs typeface="Century Gothic Paneuropean Bold"/>
                <a:sym typeface="Century Gothic Paneuropean Bold"/>
              </a:rPr>
              <a:t>1. </a:t>
            </a:r>
            <a:r>
              <a:rPr lang="en-US" sz="3200" dirty="0"/>
              <a:t>CodeFlow: Real-Time Collaborative Code Editor</a:t>
            </a:r>
            <a:endParaRPr lang="en-US" sz="3200" b="1" dirty="0">
              <a:solidFill>
                <a:srgbClr val="000000"/>
              </a:solidFill>
              <a:latin typeface="Corbel" panose="020B0503020204020204" pitchFamily="34" charset="0"/>
              <a:ea typeface="Century Gothic Paneuropean Bold"/>
              <a:cs typeface="Century Gothic Paneuropean Bold"/>
              <a:sym typeface="Century Gothic Paneuropean Bold"/>
            </a:endParaRPr>
          </a:p>
          <a:p>
            <a:pPr algn="just">
              <a:lnSpc>
                <a:spcPts val="4620"/>
              </a:lnSpc>
            </a:pPr>
            <a:r>
              <a:rPr lang="en-US" sz="2800" u="sng" dirty="0">
                <a:solidFill>
                  <a:srgbClr val="000000"/>
                </a:solidFill>
                <a:latin typeface="Corbel" panose="020B0503020204020204" pitchFamily="34" charset="0"/>
                <a:ea typeface="Century Gothic Paneuropean"/>
                <a:cs typeface="Century Gothic Paneuropean"/>
                <a:sym typeface="Century Gothic Paneuropean"/>
              </a:rPr>
              <a:t>Year &amp; Journal:2024 &amp; IEEE Explorer</a:t>
            </a:r>
            <a:r>
              <a:rPr lang="en-US" sz="2800" dirty="0">
                <a:solidFill>
                  <a:srgbClr val="000000"/>
                </a:solidFill>
                <a:latin typeface="Corbel" panose="020B0503020204020204" pitchFamily="34" charset="0"/>
                <a:ea typeface="Century Gothic Paneuropean"/>
                <a:cs typeface="Century Gothic Paneuropean"/>
                <a:sym typeface="Century Gothic Paneuropean"/>
              </a:rPr>
              <a:t> </a:t>
            </a:r>
          </a:p>
          <a:p>
            <a:pPr algn="just">
              <a:lnSpc>
                <a:spcPts val="4620"/>
              </a:lnSpc>
            </a:pPr>
            <a:r>
              <a:rPr lang="en-US" sz="3200" b="1" dirty="0">
                <a:solidFill>
                  <a:srgbClr val="000000"/>
                </a:solidFill>
                <a:latin typeface="Corbel" panose="020B0503020204020204" pitchFamily="34" charset="0"/>
                <a:ea typeface="Century Gothic Paneuropean Bold"/>
                <a:cs typeface="Century Gothic Paneuropean Bold"/>
                <a:sym typeface="Century Gothic Paneuropean Bold"/>
              </a:rPr>
              <a:t>Objective:</a:t>
            </a:r>
            <a:r>
              <a:rPr lang="en-US" sz="3200" dirty="0">
                <a:solidFill>
                  <a:srgbClr val="000000"/>
                </a:solidFill>
                <a:latin typeface="Corbel" panose="020B0503020204020204" pitchFamily="34" charset="0"/>
                <a:ea typeface="Century Gothic Paneuropean"/>
                <a:cs typeface="Century Gothic Paneuropean"/>
                <a:sym typeface="Century Gothic Paneuropean"/>
              </a:rPr>
              <a:t> </a:t>
            </a:r>
          </a:p>
          <a:p>
            <a:pPr marL="712470" lvl="1" indent="-356235" algn="just">
              <a:lnSpc>
                <a:spcPts val="4620"/>
              </a:lnSpc>
              <a:buFont typeface="Arial"/>
              <a:buChar char="•"/>
            </a:pPr>
            <a:r>
              <a:rPr lang="en-US" sz="2800" dirty="0">
                <a:solidFill>
                  <a:schemeClr val="tx1">
                    <a:lumMod val="75000"/>
                    <a:lumOff val="25000"/>
                  </a:schemeClr>
                </a:solidFill>
                <a:latin typeface="Corbel" panose="020B0503020204020204" pitchFamily="34" charset="0"/>
              </a:rPr>
              <a:t>To design and implement a real-time collaborative code editor that enables multiple developers to write and edit code simultaneously.</a:t>
            </a:r>
            <a:endParaRPr lang="en-US" sz="2800" dirty="0">
              <a:solidFill>
                <a:schemeClr val="tx1">
                  <a:lumMod val="75000"/>
                  <a:lumOff val="25000"/>
                </a:schemeClr>
              </a:solidFill>
              <a:latin typeface="Corbel" panose="020B0503020204020204" pitchFamily="34" charset="0"/>
              <a:ea typeface="Century Gothic Paneuropean"/>
              <a:cs typeface="Century Gothic Paneuropean"/>
              <a:sym typeface="Century Gothic Paneuropean"/>
            </a:endParaRPr>
          </a:p>
          <a:p>
            <a:pPr algn="just">
              <a:lnSpc>
                <a:spcPts val="4620"/>
              </a:lnSpc>
            </a:pPr>
            <a:r>
              <a:rPr lang="en-US" sz="3200" b="1" dirty="0">
                <a:solidFill>
                  <a:srgbClr val="000000"/>
                </a:solidFill>
                <a:latin typeface="Corbel" panose="020B0503020204020204" pitchFamily="34" charset="0"/>
                <a:ea typeface="Century Gothic Paneuropean Bold"/>
                <a:cs typeface="Century Gothic Paneuropean Bold"/>
                <a:sym typeface="Century Gothic Paneuropean Bold"/>
              </a:rPr>
              <a:t>Methodology: </a:t>
            </a:r>
          </a:p>
          <a:p>
            <a:pPr marL="712470" lvl="1" indent="-356235" algn="just">
              <a:lnSpc>
                <a:spcPts val="4620"/>
              </a:lnSpc>
              <a:buFont typeface="Arial"/>
              <a:buChar char="•"/>
            </a:pPr>
            <a:r>
              <a:rPr lang="en-US" sz="2800" dirty="0">
                <a:solidFill>
                  <a:schemeClr val="tx1">
                    <a:lumMod val="75000"/>
                    <a:lumOff val="25000"/>
                  </a:schemeClr>
                </a:solidFill>
                <a:latin typeface="Corbel" panose="020B0503020204020204" pitchFamily="34" charset="0"/>
              </a:rPr>
              <a:t>Used modern web technologies including React.js, Node.js, Socket.IO and Web Sockets for real-time communication and synchronization across clients</a:t>
            </a:r>
            <a:r>
              <a:rPr lang="en-US" sz="2800" dirty="0">
                <a:solidFill>
                  <a:schemeClr val="tx1">
                    <a:lumMod val="75000"/>
                    <a:lumOff val="25000"/>
                  </a:schemeClr>
                </a:solidFill>
                <a:latin typeface="Corbel" panose="020B0503020204020204" pitchFamily="34" charset="0"/>
                <a:ea typeface="Century Gothic Paneuropean"/>
                <a:cs typeface="Century Gothic Paneuropean"/>
                <a:sym typeface="Century Gothic Paneuropean"/>
              </a:rPr>
              <a:t>.</a:t>
            </a:r>
          </a:p>
          <a:p>
            <a:pPr algn="just">
              <a:lnSpc>
                <a:spcPts val="4620"/>
              </a:lnSpc>
            </a:pPr>
            <a:r>
              <a:rPr lang="en-US" sz="3200" b="1" dirty="0">
                <a:solidFill>
                  <a:srgbClr val="000000"/>
                </a:solidFill>
                <a:latin typeface="Corbel" panose="020B0503020204020204" pitchFamily="34" charset="0"/>
                <a:ea typeface="Century Gothic Paneuropean Bold"/>
                <a:cs typeface="Century Gothic Paneuropean Bold"/>
                <a:sym typeface="Century Gothic Paneuropean Bold"/>
              </a:rPr>
              <a:t>Key Contribution:</a:t>
            </a:r>
          </a:p>
          <a:p>
            <a:pPr marL="712470" lvl="1" indent="-356235" algn="just">
              <a:lnSpc>
                <a:spcPts val="4620"/>
              </a:lnSpc>
              <a:buFont typeface="Arial"/>
              <a:buChar char="•"/>
            </a:pPr>
            <a:r>
              <a:rPr lang="en-US" sz="2800" dirty="0">
                <a:solidFill>
                  <a:srgbClr val="000000"/>
                </a:solidFill>
                <a:latin typeface="Corbel" panose="020B0503020204020204" pitchFamily="34" charset="0"/>
                <a:ea typeface="Century Gothic Paneuropean"/>
                <a:cs typeface="Century Gothic Paneuropean"/>
                <a:sym typeface="Century Gothic Paneuropean"/>
              </a:rPr>
              <a:t> </a:t>
            </a:r>
            <a:r>
              <a:rPr lang="en-US" sz="2800" dirty="0">
                <a:solidFill>
                  <a:schemeClr val="tx1">
                    <a:lumMod val="75000"/>
                    <a:lumOff val="25000"/>
                  </a:schemeClr>
                </a:solidFill>
                <a:latin typeface="Corbel" panose="020B0503020204020204" pitchFamily="34" charset="0"/>
              </a:rPr>
              <a:t>Demonstrates a working collaborative code editor system where multiple users can edit together with minimal delay and full sync, emphasizing the use of real-time communication protocols and conflict handling strategies</a:t>
            </a:r>
            <a:r>
              <a:rPr lang="en-US" sz="2800" dirty="0">
                <a:solidFill>
                  <a:schemeClr val="tx1">
                    <a:lumMod val="75000"/>
                    <a:lumOff val="25000"/>
                  </a:schemeClr>
                </a:solidFill>
                <a:latin typeface="Corbel" panose="020B0503020204020204" pitchFamily="34" charset="0"/>
                <a:ea typeface="Century Gothic Paneuropean"/>
                <a:cs typeface="Century Gothic Paneuropean"/>
                <a:sym typeface="Century Gothic Paneuropean"/>
              </a:rPr>
              <a:t>.</a:t>
            </a:r>
          </a:p>
          <a:p>
            <a:pPr algn="just">
              <a:lnSpc>
                <a:spcPts val="4620"/>
              </a:lnSpc>
            </a:pPr>
            <a:endParaRPr lang="en-US" sz="2800" u="sng" dirty="0">
              <a:solidFill>
                <a:srgbClr val="000000"/>
              </a:solidFill>
              <a:latin typeface="Corbel" panose="020B0503020204020204" pitchFamily="34" charset="0"/>
              <a:ea typeface="Century Gothic Paneuropean"/>
              <a:cs typeface="Century Gothic Paneuropean"/>
              <a:sym typeface="Century Gothic Paneuropean"/>
              <a:hlinkClick r:id="rId2" tooltip="https://jurnal.polbeng.ac.id/index.php/ISI/article/view/505?utm_source=chatgpt.com"/>
            </a:endParaRPr>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275336" y="130811"/>
            <a:ext cx="9937353" cy="1252853"/>
          </a:xfrm>
          <a:prstGeom prst="rect">
            <a:avLst/>
          </a:prstGeom>
        </p:spPr>
        <p:txBody>
          <a:bodyPr lIns="0" tIns="0" rIns="0" bIns="0" rtlCol="0" anchor="t">
            <a:spAutoFit/>
          </a:bodyPr>
          <a:lstStyle/>
          <a:p>
            <a:pPr algn="ctr">
              <a:lnSpc>
                <a:spcPts val="10220"/>
              </a:lnSpc>
            </a:pPr>
            <a:r>
              <a:rPr lang="en-US" sz="7300" b="1">
                <a:solidFill>
                  <a:srgbClr val="000000"/>
                </a:solidFill>
                <a:latin typeface="Century Gothic Paneuropean Bold"/>
                <a:ea typeface="Century Gothic Paneuropean Bold"/>
                <a:cs typeface="Century Gothic Paneuropean Bold"/>
                <a:sym typeface="Century Gothic Paneuropean Bold"/>
              </a:rPr>
              <a:t>REVIEW OF LITERATURE</a:t>
            </a:r>
          </a:p>
        </p:txBody>
      </p:sp>
      <p:sp>
        <p:nvSpPr>
          <p:cNvPr id="9" name="TextBox 9"/>
          <p:cNvSpPr txBox="1"/>
          <p:nvPr/>
        </p:nvSpPr>
        <p:spPr>
          <a:xfrm>
            <a:off x="1569057" y="1696163"/>
            <a:ext cx="15349910" cy="7026154"/>
          </a:xfrm>
          <a:prstGeom prst="rect">
            <a:avLst/>
          </a:prstGeom>
        </p:spPr>
        <p:txBody>
          <a:bodyPr lIns="0" tIns="0" rIns="0" bIns="0" rtlCol="0" anchor="t">
            <a:spAutoFit/>
          </a:bodyPr>
          <a:lstStyle/>
          <a:p>
            <a:pPr algn="just">
              <a:lnSpc>
                <a:spcPts val="4620"/>
              </a:lnSpc>
            </a:pPr>
            <a:r>
              <a:rPr lang="en-US" sz="2800" b="1" dirty="0">
                <a:solidFill>
                  <a:srgbClr val="000000"/>
                </a:solidFill>
                <a:latin typeface="Century Gothic Paneuropean Bold"/>
                <a:ea typeface="Century Gothic Paneuropean"/>
                <a:cs typeface="Century Gothic Paneuropean Bold"/>
                <a:sym typeface="Century Gothic Paneuropean Bold"/>
              </a:rPr>
              <a:t>2</a:t>
            </a:r>
            <a:r>
              <a:rPr lang="en-US" sz="2800" dirty="0">
                <a:solidFill>
                  <a:srgbClr val="000000"/>
                </a:solidFill>
                <a:latin typeface="Corbel" panose="020B0503020204020204" pitchFamily="34" charset="0"/>
                <a:ea typeface="Century Gothic Paneuropean"/>
                <a:cs typeface="Century Gothic Paneuropean"/>
                <a:sym typeface="Century Gothic Paneuropean"/>
              </a:rPr>
              <a:t>. </a:t>
            </a:r>
            <a:r>
              <a:rPr lang="en-US" sz="3200" b="1" i="1" dirty="0">
                <a:latin typeface="Corbel" panose="020B0503020204020204" pitchFamily="34" charset="0"/>
              </a:rPr>
              <a:t>Real-Time Collaborative Code Editor: A Web-Based Synchronous Programming Platform</a:t>
            </a:r>
            <a:endParaRPr lang="en-US" sz="3200" b="1" i="1" dirty="0">
              <a:solidFill>
                <a:srgbClr val="000000"/>
              </a:solidFill>
              <a:latin typeface="Corbel" panose="020B0503020204020204" pitchFamily="34" charset="0"/>
              <a:ea typeface="Century Gothic Paneuropean Bold"/>
              <a:cs typeface="Century Gothic Paneuropean Bold"/>
              <a:sym typeface="Century Gothic Paneuropean Bold"/>
            </a:endParaRPr>
          </a:p>
          <a:p>
            <a:pPr algn="just">
              <a:lnSpc>
                <a:spcPts val="4620"/>
              </a:lnSpc>
            </a:pPr>
            <a:r>
              <a:rPr lang="en-US" sz="2800" b="1" dirty="0">
                <a:solidFill>
                  <a:srgbClr val="000000"/>
                </a:solidFill>
                <a:latin typeface="Corbel" panose="020B0503020204020204" pitchFamily="34" charset="0"/>
                <a:ea typeface="Century Gothic Paneuropean Bold"/>
                <a:cs typeface="Century Gothic Paneuropean Bold"/>
                <a:sym typeface="Century Gothic Paneuropean Bold"/>
              </a:rPr>
              <a:t>Objective:</a:t>
            </a:r>
            <a:r>
              <a:rPr lang="en-US" sz="2800" dirty="0">
                <a:solidFill>
                  <a:srgbClr val="000000"/>
                </a:solidFill>
                <a:latin typeface="Corbel" panose="020B0503020204020204" pitchFamily="34" charset="0"/>
                <a:ea typeface="Century Gothic Paneuropean"/>
                <a:cs typeface="Century Gothic Paneuropean"/>
                <a:sym typeface="Century Gothic Paneuropean"/>
              </a:rPr>
              <a:t> </a:t>
            </a:r>
          </a:p>
          <a:p>
            <a:pPr marL="712470" lvl="1" indent="-356235" algn="just">
              <a:lnSpc>
                <a:spcPts val="4620"/>
              </a:lnSpc>
              <a:buFont typeface="Arial"/>
              <a:buChar char="•"/>
            </a:pPr>
            <a:r>
              <a:rPr lang="en-US" sz="2800" dirty="0">
                <a:solidFill>
                  <a:schemeClr val="tx1">
                    <a:lumMod val="75000"/>
                    <a:lumOff val="25000"/>
                  </a:schemeClr>
                </a:solidFill>
                <a:latin typeface="Corbel" panose="020B0503020204020204" pitchFamily="34" charset="0"/>
                <a:ea typeface="Century Gothic Paneuropean"/>
                <a:cs typeface="Century Gothic Paneuropean"/>
                <a:sym typeface="Century Gothic Paneuropean"/>
              </a:rPr>
              <a:t>To design a web app to work together</a:t>
            </a:r>
          </a:p>
          <a:p>
            <a:pPr algn="just">
              <a:lnSpc>
                <a:spcPts val="4620"/>
              </a:lnSpc>
            </a:pPr>
            <a:r>
              <a:rPr lang="en-US" sz="2800" b="1" dirty="0">
                <a:solidFill>
                  <a:srgbClr val="000000"/>
                </a:solidFill>
                <a:latin typeface="Corbel" panose="020B0503020204020204" pitchFamily="34" charset="0"/>
                <a:ea typeface="Century Gothic Paneuropean Bold"/>
                <a:cs typeface="Century Gothic Paneuropean Bold"/>
                <a:sym typeface="Century Gothic Paneuropean Bold"/>
              </a:rPr>
              <a:t>Methodology:</a:t>
            </a:r>
            <a:r>
              <a:rPr lang="en-US" sz="2800" dirty="0">
                <a:solidFill>
                  <a:srgbClr val="000000"/>
                </a:solidFill>
                <a:latin typeface="Corbel" panose="020B0503020204020204" pitchFamily="34" charset="0"/>
                <a:ea typeface="Century Gothic Paneuropean"/>
                <a:cs typeface="Century Gothic Paneuropean"/>
                <a:sym typeface="Century Gothic Paneuropean"/>
              </a:rPr>
              <a:t> </a:t>
            </a:r>
          </a:p>
          <a:p>
            <a:pPr marL="712470" lvl="1" indent="-356235" algn="just">
              <a:lnSpc>
                <a:spcPts val="4620"/>
              </a:lnSpc>
              <a:buFont typeface="Arial"/>
              <a:buChar char="•"/>
            </a:pPr>
            <a:r>
              <a:rPr lang="en-US" sz="2800" dirty="0">
                <a:solidFill>
                  <a:schemeClr val="tx1">
                    <a:lumMod val="75000"/>
                    <a:lumOff val="25000"/>
                  </a:schemeClr>
                </a:solidFill>
                <a:latin typeface="Corbel" panose="020B0503020204020204" pitchFamily="34" charset="0"/>
                <a:ea typeface="Century Gothic Paneuropean"/>
                <a:cs typeface="Century Gothic Paneuropean"/>
                <a:sym typeface="Century Gothic Paneuropean"/>
              </a:rPr>
              <a:t>TF-IDF features; 10-fold cross-validation on 10,000 reviews.</a:t>
            </a:r>
          </a:p>
          <a:p>
            <a:pPr algn="just">
              <a:lnSpc>
                <a:spcPts val="4620"/>
              </a:lnSpc>
            </a:pPr>
            <a:r>
              <a:rPr lang="en-US" sz="2800" b="1" dirty="0">
                <a:solidFill>
                  <a:srgbClr val="000000"/>
                </a:solidFill>
                <a:latin typeface="Corbel" panose="020B0503020204020204" pitchFamily="34" charset="0"/>
                <a:ea typeface="Century Gothic Paneuropean Bold"/>
                <a:cs typeface="Century Gothic Paneuropean Bold"/>
                <a:sym typeface="Century Gothic Paneuropean Bold"/>
              </a:rPr>
              <a:t>Key Contribution:</a:t>
            </a:r>
            <a:r>
              <a:rPr lang="en-US" sz="2800" dirty="0">
                <a:solidFill>
                  <a:srgbClr val="000000"/>
                </a:solidFill>
                <a:latin typeface="Corbel" panose="020B0503020204020204" pitchFamily="34" charset="0"/>
                <a:ea typeface="Century Gothic Paneuropean"/>
                <a:cs typeface="Century Gothic Paneuropean"/>
                <a:sym typeface="Century Gothic Paneuropean"/>
              </a:rPr>
              <a:t> </a:t>
            </a:r>
          </a:p>
          <a:p>
            <a:pPr marL="712470" lvl="1" indent="-356235" algn="just">
              <a:lnSpc>
                <a:spcPts val="4620"/>
              </a:lnSpc>
              <a:buFont typeface="Arial"/>
              <a:buChar char="•"/>
            </a:pPr>
            <a:r>
              <a:rPr lang="en-US" sz="2800" dirty="0">
                <a:solidFill>
                  <a:schemeClr val="tx1">
                    <a:lumMod val="75000"/>
                    <a:lumOff val="25000"/>
                  </a:schemeClr>
                </a:solidFill>
                <a:latin typeface="Corbel" panose="020B0503020204020204" pitchFamily="34" charset="0"/>
              </a:rPr>
              <a:t>Enabled multiple users to edit code simultaneously.</a:t>
            </a:r>
            <a:endParaRPr lang="en-US" sz="2800" dirty="0">
              <a:solidFill>
                <a:schemeClr val="tx1">
                  <a:lumMod val="75000"/>
                  <a:lumOff val="25000"/>
                </a:schemeClr>
              </a:solidFill>
              <a:latin typeface="Corbel" panose="020B0503020204020204" pitchFamily="34" charset="0"/>
              <a:ea typeface="Century Gothic Paneuropean"/>
              <a:cs typeface="Century Gothic Paneuropean"/>
              <a:sym typeface="Century Gothic Paneuropean"/>
            </a:endParaRPr>
          </a:p>
          <a:p>
            <a:pPr algn="just">
              <a:lnSpc>
                <a:spcPts val="4620"/>
              </a:lnSpc>
            </a:pPr>
            <a:r>
              <a:rPr lang="en-US" sz="2800" b="1" dirty="0">
                <a:solidFill>
                  <a:srgbClr val="000000"/>
                </a:solidFill>
                <a:latin typeface="Corbel" panose="020B0503020204020204" pitchFamily="34" charset="0"/>
                <a:ea typeface="Century Gothic Paneuropean Bold"/>
                <a:cs typeface="Century Gothic Paneuropean Bold"/>
                <a:sym typeface="Century Gothic Paneuropean Bold"/>
              </a:rPr>
              <a:t>Limitation:</a:t>
            </a:r>
            <a:r>
              <a:rPr lang="en-US" sz="2800" dirty="0">
                <a:solidFill>
                  <a:srgbClr val="000000"/>
                </a:solidFill>
                <a:latin typeface="Corbel" panose="020B0503020204020204" pitchFamily="34" charset="0"/>
                <a:ea typeface="Century Gothic Paneuropean"/>
                <a:cs typeface="Century Gothic Paneuropean"/>
                <a:sym typeface="Century Gothic Paneuropean"/>
              </a:rPr>
              <a:t> </a:t>
            </a:r>
          </a:p>
          <a:p>
            <a:pPr marL="712470" lvl="1" indent="-356235" algn="just">
              <a:lnSpc>
                <a:spcPts val="4620"/>
              </a:lnSpc>
              <a:buFont typeface="Arial"/>
              <a:buChar char="•"/>
            </a:pPr>
            <a:r>
              <a:rPr lang="en-US" sz="2800" dirty="0">
                <a:solidFill>
                  <a:schemeClr val="tx1">
                    <a:lumMod val="75000"/>
                    <a:lumOff val="25000"/>
                  </a:schemeClr>
                </a:solidFill>
                <a:latin typeface="Corbel" panose="020B0503020204020204" pitchFamily="34" charset="0"/>
              </a:rPr>
              <a:t>Limited scalability for many users</a:t>
            </a:r>
            <a:r>
              <a:rPr lang="en-US" sz="2800" dirty="0">
                <a:solidFill>
                  <a:schemeClr val="tx1">
                    <a:lumMod val="75000"/>
                    <a:lumOff val="25000"/>
                  </a:schemeClr>
                </a:solidFill>
                <a:latin typeface="Corbel" panose="020B0503020204020204" pitchFamily="34" charset="0"/>
                <a:ea typeface="Century Gothic Paneuropean"/>
                <a:cs typeface="Century Gothic Paneuropean"/>
                <a:sym typeface="Century Gothic Paneuropean"/>
              </a:rPr>
              <a:t>.</a:t>
            </a:r>
          </a:p>
          <a:p>
            <a:pPr algn="just">
              <a:lnSpc>
                <a:spcPts val="4620"/>
              </a:lnSpc>
            </a:pPr>
            <a:r>
              <a:rPr lang="en-US" sz="2800" b="1" dirty="0">
                <a:solidFill>
                  <a:srgbClr val="000000"/>
                </a:solidFill>
                <a:latin typeface="Corbel" panose="020B0503020204020204" pitchFamily="34" charset="0"/>
                <a:ea typeface="Century Gothic Paneuropean Bold"/>
                <a:cs typeface="Century Gothic Paneuropean Bold"/>
                <a:sym typeface="Century Gothic Paneuropean Bold"/>
              </a:rPr>
              <a:t>Reference Link:</a:t>
            </a:r>
            <a:r>
              <a:rPr lang="en-US" sz="2800" dirty="0">
                <a:solidFill>
                  <a:srgbClr val="000000"/>
                </a:solidFill>
                <a:latin typeface="Corbel" panose="020B0503020204020204" pitchFamily="34" charset="0"/>
                <a:ea typeface="Century Gothic Paneuropean"/>
                <a:cs typeface="Century Gothic Paneuropean"/>
                <a:sym typeface="Century Gothic Paneuropean"/>
              </a:rPr>
              <a:t> </a:t>
            </a:r>
            <a:r>
              <a:rPr lang="en-IN" sz="2800" dirty="0">
                <a:latin typeface="Corbel" panose="020B0503020204020204" pitchFamily="34" charset="0"/>
                <a:hlinkClick r:id="rId2"/>
              </a:rPr>
              <a:t>https://www.ijraset.com/research-paper/real-time-collaborative-code-editor-a-web-based-synchronous-programming-platform</a:t>
            </a:r>
            <a:endParaRPr lang="en-US" sz="2800" u="sng" dirty="0">
              <a:solidFill>
                <a:srgbClr val="000000"/>
              </a:solidFill>
              <a:latin typeface="Corbel" panose="020B0503020204020204" pitchFamily="34" charset="0"/>
              <a:ea typeface="Century Gothic Paneuropean"/>
              <a:cs typeface="Century Gothic Paneuropean"/>
              <a:sym typeface="Century Gothic Paneuropean"/>
              <a:hlinkClick r:id="rId3" tooltip="https://jurnal.polbeng.ac.id/index.php/ISI/article/view/1235?utm_source=chatgpt.com"/>
            </a:endParaRPr>
          </a:p>
          <a:p>
            <a:pPr algn="just">
              <a:lnSpc>
                <a:spcPts val="4620"/>
              </a:lnSpc>
            </a:pPr>
            <a:endParaRPr lang="en-US" sz="2800" u="sng" dirty="0">
              <a:solidFill>
                <a:srgbClr val="000000"/>
              </a:solidFill>
              <a:latin typeface="Corbel" panose="020B0503020204020204" pitchFamily="34" charset="0"/>
              <a:ea typeface="Century Gothic Paneuropean"/>
              <a:cs typeface="Century Gothic Paneuropean"/>
              <a:sym typeface="Century Gothic Paneuropean"/>
              <a:hlinkClick r:id="rId3" tooltip="https://jurnal.polbeng.ac.id/index.php/ISI/article/view/1235?utm_source=chatgpt.com"/>
            </a:endParaRPr>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275336" y="130811"/>
            <a:ext cx="9937353" cy="1252853"/>
          </a:xfrm>
          <a:prstGeom prst="rect">
            <a:avLst/>
          </a:prstGeom>
        </p:spPr>
        <p:txBody>
          <a:bodyPr lIns="0" tIns="0" rIns="0" bIns="0" rtlCol="0" anchor="t">
            <a:spAutoFit/>
          </a:bodyPr>
          <a:lstStyle/>
          <a:p>
            <a:pPr algn="ctr">
              <a:lnSpc>
                <a:spcPts val="10220"/>
              </a:lnSpc>
            </a:pPr>
            <a:r>
              <a:rPr lang="en-US" sz="7300" b="1">
                <a:solidFill>
                  <a:srgbClr val="000000"/>
                </a:solidFill>
                <a:latin typeface="Century Gothic Paneuropean Bold"/>
                <a:ea typeface="Century Gothic Paneuropean Bold"/>
                <a:cs typeface="Century Gothic Paneuropean Bold"/>
                <a:sym typeface="Century Gothic Paneuropean Bold"/>
              </a:rPr>
              <a:t>REVIEW OF LITERATURE</a:t>
            </a:r>
          </a:p>
        </p:txBody>
      </p:sp>
      <p:sp>
        <p:nvSpPr>
          <p:cNvPr id="9" name="TextBox 9"/>
          <p:cNvSpPr txBox="1"/>
          <p:nvPr/>
        </p:nvSpPr>
        <p:spPr>
          <a:xfrm>
            <a:off x="1569056" y="1696163"/>
            <a:ext cx="16566543" cy="6858159"/>
          </a:xfrm>
          <a:prstGeom prst="rect">
            <a:avLst/>
          </a:prstGeom>
        </p:spPr>
        <p:txBody>
          <a:bodyPr wrap="square" lIns="0" tIns="0" rIns="0" bIns="0" rtlCol="0" anchor="t">
            <a:spAutoFit/>
          </a:bodyPr>
          <a:lstStyle/>
          <a:p>
            <a:pPr algn="just">
              <a:lnSpc>
                <a:spcPct val="150000"/>
              </a:lnSpc>
            </a:pPr>
            <a:r>
              <a:rPr lang="en-US" sz="2800" b="1" dirty="0">
                <a:solidFill>
                  <a:srgbClr val="000000"/>
                </a:solidFill>
                <a:latin typeface="Century Gothic Paneuropean Bold"/>
                <a:ea typeface="Century Gothic Paneuropean Bold"/>
                <a:cs typeface="Century Gothic Paneuropean Bold"/>
                <a:sym typeface="Century Gothic Paneuropean Bold"/>
              </a:rPr>
              <a:t>3</a:t>
            </a:r>
            <a:r>
              <a:rPr lang="en-US" sz="2800" b="1" dirty="0">
                <a:solidFill>
                  <a:srgbClr val="000000"/>
                </a:solidFill>
                <a:latin typeface="Corbel" panose="020B0503020204020204" pitchFamily="34" charset="0"/>
                <a:ea typeface="Century Gothic Paneuropean Bold"/>
                <a:cs typeface="Century Gothic Paneuropean Bold"/>
                <a:sym typeface="Century Gothic Paneuropean Bold"/>
              </a:rPr>
              <a:t>.</a:t>
            </a:r>
            <a:r>
              <a:rPr lang="en-US" sz="3200" b="1" i="1" dirty="0">
                <a:latin typeface="Corbel" panose="020B0503020204020204" pitchFamily="34" charset="0"/>
              </a:rPr>
              <a:t>Enabling Seamless Software Collaboration: Web-Based Collaborative Code Editor</a:t>
            </a:r>
            <a:endParaRPr lang="en-US" sz="3200" b="1" i="1" dirty="0">
              <a:solidFill>
                <a:srgbClr val="000000"/>
              </a:solidFill>
              <a:latin typeface="Corbel" panose="020B0503020204020204" pitchFamily="34" charset="0"/>
              <a:ea typeface="Century Gothic Paneuropean Bold"/>
              <a:cs typeface="Century Gothic Paneuropean Bold"/>
              <a:sym typeface="Century Gothic Paneuropean Bold"/>
            </a:endParaRPr>
          </a:p>
          <a:p>
            <a:pPr algn="just">
              <a:lnSpc>
                <a:spcPct val="150000"/>
              </a:lnSpc>
            </a:pPr>
            <a:r>
              <a:rPr lang="en-US" sz="3200" b="1" dirty="0">
                <a:solidFill>
                  <a:srgbClr val="000000"/>
                </a:solidFill>
                <a:latin typeface="Corbel" panose="020B0503020204020204" pitchFamily="34" charset="0"/>
                <a:ea typeface="Century Gothic Paneuropean Bold"/>
                <a:cs typeface="Century Gothic Paneuropean Bold"/>
                <a:sym typeface="Century Gothic Paneuropean Bold"/>
              </a:rPr>
              <a:t>Objective:</a:t>
            </a:r>
            <a:r>
              <a:rPr lang="en-US" sz="3200" dirty="0">
                <a:solidFill>
                  <a:srgbClr val="000000"/>
                </a:solidFill>
                <a:latin typeface="Corbel" panose="020B0503020204020204" pitchFamily="34" charset="0"/>
                <a:ea typeface="Century Gothic Paneuropean"/>
                <a:cs typeface="Century Gothic Paneuropean"/>
                <a:sym typeface="Century Gothic Paneuropean"/>
              </a:rPr>
              <a:t> </a:t>
            </a:r>
          </a:p>
          <a:p>
            <a:pPr marL="712470" lvl="1" indent="-356235" algn="just">
              <a:lnSpc>
                <a:spcPct val="150000"/>
              </a:lnSpc>
              <a:buFont typeface="Arial"/>
              <a:buChar char="•"/>
            </a:pPr>
            <a:r>
              <a:rPr lang="en-IN" sz="2800" dirty="0">
                <a:solidFill>
                  <a:schemeClr val="tx1">
                    <a:lumMod val="75000"/>
                    <a:lumOff val="25000"/>
                  </a:schemeClr>
                </a:solidFill>
                <a:latin typeface="Corbel" panose="020B0503020204020204" pitchFamily="34" charset="0"/>
              </a:rPr>
              <a:t>Improve team collaboration in coding</a:t>
            </a:r>
            <a:r>
              <a:rPr lang="en-US" sz="2800" dirty="0">
                <a:solidFill>
                  <a:schemeClr val="tx1">
                    <a:lumMod val="75000"/>
                    <a:lumOff val="25000"/>
                  </a:schemeClr>
                </a:solidFill>
                <a:latin typeface="Corbel" panose="020B0503020204020204" pitchFamily="34" charset="0"/>
                <a:ea typeface="Century Gothic Paneuropean"/>
                <a:cs typeface="Century Gothic Paneuropean"/>
                <a:sym typeface="Century Gothic Paneuropean"/>
              </a:rPr>
              <a:t>.</a:t>
            </a:r>
          </a:p>
          <a:p>
            <a:pPr algn="just">
              <a:lnSpc>
                <a:spcPct val="150000"/>
              </a:lnSpc>
            </a:pPr>
            <a:r>
              <a:rPr lang="en-US" sz="3200" b="1" dirty="0">
                <a:solidFill>
                  <a:srgbClr val="000000"/>
                </a:solidFill>
                <a:latin typeface="Corbel" panose="020B0503020204020204" pitchFamily="34" charset="0"/>
                <a:ea typeface="Century Gothic Paneuropean Bold"/>
                <a:cs typeface="Century Gothic Paneuropean Bold"/>
                <a:sym typeface="Century Gothic Paneuropean Bold"/>
              </a:rPr>
              <a:t>Methodology:</a:t>
            </a:r>
            <a:r>
              <a:rPr lang="en-US" sz="3200" dirty="0">
                <a:solidFill>
                  <a:srgbClr val="000000"/>
                </a:solidFill>
                <a:latin typeface="Corbel" panose="020B0503020204020204" pitchFamily="34" charset="0"/>
                <a:ea typeface="Century Gothic Paneuropean"/>
                <a:cs typeface="Century Gothic Paneuropean"/>
                <a:sym typeface="Century Gothic Paneuropean"/>
              </a:rPr>
              <a:t> </a:t>
            </a:r>
          </a:p>
          <a:p>
            <a:pPr marL="712470" lvl="1" indent="-356235" algn="just">
              <a:lnSpc>
                <a:spcPct val="150000"/>
              </a:lnSpc>
              <a:buFont typeface="Arial"/>
              <a:buChar char="•"/>
            </a:pPr>
            <a:r>
              <a:rPr lang="en-US" sz="2800" dirty="0">
                <a:solidFill>
                  <a:schemeClr val="tx1">
                    <a:lumMod val="75000"/>
                    <a:lumOff val="25000"/>
                  </a:schemeClr>
                </a:solidFill>
                <a:latin typeface="Corbel" panose="020B0503020204020204" pitchFamily="34" charset="0"/>
              </a:rPr>
              <a:t>Client-server model with integrated chat.</a:t>
            </a:r>
            <a:endParaRPr lang="en-US" sz="2800" dirty="0">
              <a:solidFill>
                <a:schemeClr val="tx1">
                  <a:lumMod val="75000"/>
                  <a:lumOff val="25000"/>
                </a:schemeClr>
              </a:solidFill>
              <a:latin typeface="Corbel" panose="020B0503020204020204" pitchFamily="34" charset="0"/>
              <a:ea typeface="Century Gothic Paneuropean"/>
              <a:cs typeface="Century Gothic Paneuropean"/>
              <a:sym typeface="Century Gothic Paneuropean"/>
            </a:endParaRPr>
          </a:p>
          <a:p>
            <a:pPr algn="just">
              <a:lnSpc>
                <a:spcPct val="150000"/>
              </a:lnSpc>
            </a:pPr>
            <a:r>
              <a:rPr lang="en-US" sz="3200" b="1" dirty="0">
                <a:solidFill>
                  <a:srgbClr val="000000"/>
                </a:solidFill>
                <a:latin typeface="Corbel" panose="020B0503020204020204" pitchFamily="34" charset="0"/>
                <a:ea typeface="Century Gothic Paneuropean Bold"/>
                <a:cs typeface="Century Gothic Paneuropean Bold"/>
                <a:sym typeface="Century Gothic Paneuropean Bold"/>
              </a:rPr>
              <a:t>Key Contribution:</a:t>
            </a:r>
          </a:p>
          <a:p>
            <a:pPr marL="712470" lvl="1" indent="-356235" algn="just">
              <a:lnSpc>
                <a:spcPct val="150000"/>
              </a:lnSpc>
              <a:buFont typeface="Arial"/>
              <a:buChar char="•"/>
            </a:pPr>
            <a:r>
              <a:rPr lang="en-US" sz="2800" dirty="0">
                <a:solidFill>
                  <a:schemeClr val="tx1">
                    <a:lumMod val="75000"/>
                    <a:lumOff val="25000"/>
                  </a:schemeClr>
                </a:solidFill>
                <a:latin typeface="Corbel" panose="020B0503020204020204" pitchFamily="34" charset="0"/>
              </a:rPr>
              <a:t>Combined code editing and communication</a:t>
            </a:r>
            <a:r>
              <a:rPr lang="en-US" sz="2800" dirty="0">
                <a:solidFill>
                  <a:schemeClr val="tx1">
                    <a:lumMod val="75000"/>
                    <a:lumOff val="25000"/>
                  </a:schemeClr>
                </a:solidFill>
                <a:latin typeface="Corbel" panose="020B0503020204020204" pitchFamily="34" charset="0"/>
                <a:ea typeface="Century Gothic Paneuropean"/>
                <a:cs typeface="Century Gothic Paneuropean"/>
                <a:sym typeface="Century Gothic Paneuropean"/>
              </a:rPr>
              <a:t>.</a:t>
            </a:r>
          </a:p>
          <a:p>
            <a:pPr algn="just">
              <a:lnSpc>
                <a:spcPct val="150000"/>
              </a:lnSpc>
            </a:pPr>
            <a:r>
              <a:rPr lang="en-US" sz="3200" b="1" dirty="0">
                <a:solidFill>
                  <a:srgbClr val="000000"/>
                </a:solidFill>
                <a:latin typeface="Corbel" panose="020B0503020204020204" pitchFamily="34" charset="0"/>
                <a:ea typeface="Century Gothic Paneuropean Bold"/>
                <a:cs typeface="Century Gothic Paneuropean Bold"/>
                <a:sym typeface="Century Gothic Paneuropean Bold"/>
              </a:rPr>
              <a:t>Limitation:</a:t>
            </a:r>
            <a:r>
              <a:rPr lang="en-US" sz="3200" dirty="0">
                <a:solidFill>
                  <a:srgbClr val="000000"/>
                </a:solidFill>
                <a:latin typeface="Corbel" panose="020B0503020204020204" pitchFamily="34" charset="0"/>
                <a:ea typeface="Century Gothic Paneuropean"/>
                <a:cs typeface="Century Gothic Paneuropean"/>
                <a:sym typeface="Century Gothic Paneuropean"/>
              </a:rPr>
              <a:t> </a:t>
            </a:r>
          </a:p>
          <a:p>
            <a:pPr marL="712470" lvl="1" indent="-356235" algn="just">
              <a:lnSpc>
                <a:spcPct val="150000"/>
              </a:lnSpc>
              <a:buFont typeface="Arial"/>
              <a:buChar char="•"/>
            </a:pPr>
            <a:r>
              <a:rPr lang="en-IN" sz="2800" dirty="0">
                <a:solidFill>
                  <a:schemeClr val="tx1">
                    <a:lumMod val="75000"/>
                    <a:lumOff val="25000"/>
                  </a:schemeClr>
                </a:solidFill>
                <a:latin typeface="Corbel" panose="020B0503020204020204" pitchFamily="34" charset="0"/>
              </a:rPr>
              <a:t>Needs better security handling</a:t>
            </a:r>
            <a:r>
              <a:rPr lang="en-US" sz="2800" dirty="0">
                <a:solidFill>
                  <a:schemeClr val="tx1">
                    <a:lumMod val="75000"/>
                    <a:lumOff val="25000"/>
                  </a:schemeClr>
                </a:solidFill>
                <a:latin typeface="Corbel" panose="020B0503020204020204" pitchFamily="34" charset="0"/>
                <a:ea typeface="Century Gothic Paneuropean"/>
                <a:cs typeface="Century Gothic Paneuropean"/>
                <a:sym typeface="Century Gothic Paneuropean"/>
              </a:rPr>
              <a:t>.</a:t>
            </a:r>
          </a:p>
          <a:p>
            <a:pPr algn="just">
              <a:lnSpc>
                <a:spcPct val="150000"/>
              </a:lnSpc>
            </a:pPr>
            <a:endParaRPr lang="en-US" sz="2800" u="sng" dirty="0">
              <a:solidFill>
                <a:srgbClr val="000000"/>
              </a:solidFill>
              <a:latin typeface="Corbel" panose="020B0503020204020204" pitchFamily="34" charset="0"/>
              <a:ea typeface="Century Gothic Paneuropean"/>
              <a:cs typeface="Century Gothic Paneuropean"/>
              <a:sym typeface="Century Gothic Paneuropean"/>
              <a:hlinkClick r:id="rId2" tooltip="https://ijisae.org/index.php/IJISAE/article/view/7000?utm_source=chatgpt.com"/>
            </a:endParaRPr>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1204656"/>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275336" y="130811"/>
            <a:ext cx="9937353" cy="1252853"/>
          </a:xfrm>
          <a:prstGeom prst="rect">
            <a:avLst/>
          </a:prstGeom>
        </p:spPr>
        <p:txBody>
          <a:bodyPr lIns="0" tIns="0" rIns="0" bIns="0" rtlCol="0" anchor="t">
            <a:spAutoFit/>
          </a:bodyPr>
          <a:lstStyle/>
          <a:p>
            <a:pPr algn="ctr">
              <a:lnSpc>
                <a:spcPts val="10220"/>
              </a:lnSpc>
            </a:pPr>
            <a:r>
              <a:rPr lang="en-US" sz="7300" b="1">
                <a:solidFill>
                  <a:srgbClr val="000000"/>
                </a:solidFill>
                <a:latin typeface="Century Gothic Paneuropean Bold"/>
                <a:ea typeface="Century Gothic Paneuropean Bold"/>
                <a:cs typeface="Century Gothic Paneuropean Bold"/>
                <a:sym typeface="Century Gothic Paneuropean Bold"/>
              </a:rPr>
              <a:t>REVIEW OF LITERATURE</a:t>
            </a:r>
          </a:p>
        </p:txBody>
      </p:sp>
      <p:sp>
        <p:nvSpPr>
          <p:cNvPr id="9" name="TextBox 9"/>
          <p:cNvSpPr txBox="1"/>
          <p:nvPr/>
        </p:nvSpPr>
        <p:spPr>
          <a:xfrm>
            <a:off x="1131067" y="1804423"/>
            <a:ext cx="16029291" cy="7587205"/>
          </a:xfrm>
          <a:prstGeom prst="rect">
            <a:avLst/>
          </a:prstGeom>
        </p:spPr>
        <p:txBody>
          <a:bodyPr lIns="0" tIns="0" rIns="0" bIns="0" rtlCol="0" anchor="t">
            <a:spAutoFit/>
          </a:bodyPr>
          <a:lstStyle/>
          <a:p>
            <a:pPr algn="just">
              <a:lnSpc>
                <a:spcPct val="150000"/>
              </a:lnSpc>
            </a:pPr>
            <a:r>
              <a:rPr lang="en-US" sz="3100" b="1" dirty="0">
                <a:solidFill>
                  <a:srgbClr val="000000"/>
                </a:solidFill>
                <a:latin typeface="Century Gothic Paneuropean Bold"/>
                <a:ea typeface="Century Gothic Paneuropean Bold"/>
                <a:cs typeface="Century Gothic Paneuropean Bold"/>
                <a:sym typeface="Century Gothic Paneuropean Bold"/>
              </a:rPr>
              <a:t>4. </a:t>
            </a:r>
            <a:r>
              <a:rPr lang="en-US" sz="3600" b="1" i="1" dirty="0"/>
              <a:t>Code Together: Real-Time Code Editor Application</a:t>
            </a:r>
          </a:p>
          <a:p>
            <a:pPr algn="just">
              <a:lnSpc>
                <a:spcPct val="150000"/>
              </a:lnSpc>
            </a:pPr>
            <a:r>
              <a:rPr lang="en-US" sz="3200" b="1" dirty="0">
                <a:solidFill>
                  <a:srgbClr val="000000"/>
                </a:solidFill>
                <a:latin typeface="Century Gothic Paneuropean Bold"/>
                <a:ea typeface="Century Gothic Paneuropean Bold"/>
                <a:cs typeface="Century Gothic Paneuropean Bold"/>
                <a:sym typeface="Century Gothic Paneuropean Bold"/>
              </a:rPr>
              <a:t>Objective:</a:t>
            </a:r>
            <a:r>
              <a:rPr lang="en-US" sz="3200" dirty="0">
                <a:solidFill>
                  <a:srgbClr val="000000"/>
                </a:solidFill>
                <a:latin typeface="Century Gothic Paneuropean"/>
                <a:ea typeface="Century Gothic Paneuropean"/>
                <a:cs typeface="Century Gothic Paneuropean"/>
                <a:sym typeface="Century Gothic Paneuropean"/>
              </a:rPr>
              <a:t> </a:t>
            </a:r>
          </a:p>
          <a:p>
            <a:pPr marL="669291" lvl="1" indent="-334646" algn="just">
              <a:lnSpc>
                <a:spcPct val="150000"/>
              </a:lnSpc>
              <a:buFont typeface="Arial"/>
              <a:buChar char="•"/>
            </a:pPr>
            <a:r>
              <a:rPr lang="en-US" sz="2800" dirty="0">
                <a:solidFill>
                  <a:schemeClr val="tx1">
                    <a:lumMod val="75000"/>
                    <a:lumOff val="25000"/>
                  </a:schemeClr>
                </a:solidFill>
              </a:rPr>
              <a:t>To build a real-time collaborative coding tool that enhances teamwork and productivity</a:t>
            </a:r>
            <a:r>
              <a:rPr lang="en-US" sz="2800" dirty="0">
                <a:solidFill>
                  <a:schemeClr val="tx1">
                    <a:lumMod val="75000"/>
                    <a:lumOff val="25000"/>
                  </a:schemeClr>
                </a:solidFill>
                <a:latin typeface="Century Gothic Paneuropean"/>
                <a:ea typeface="Century Gothic Paneuropean"/>
                <a:cs typeface="Century Gothic Paneuropean"/>
                <a:sym typeface="Century Gothic Paneuropean"/>
              </a:rPr>
              <a:t>.</a:t>
            </a:r>
          </a:p>
          <a:p>
            <a:pPr algn="just">
              <a:lnSpc>
                <a:spcPct val="150000"/>
              </a:lnSpc>
            </a:pPr>
            <a:r>
              <a:rPr lang="en-US" sz="3100" b="1" dirty="0">
                <a:solidFill>
                  <a:srgbClr val="000000"/>
                </a:solidFill>
                <a:latin typeface="Century Gothic Paneuropean Bold"/>
                <a:ea typeface="Century Gothic Paneuropean Bold"/>
                <a:cs typeface="Century Gothic Paneuropean Bold"/>
                <a:sym typeface="Century Gothic Paneuropean Bold"/>
              </a:rPr>
              <a:t>Methodology:</a:t>
            </a:r>
            <a:r>
              <a:rPr lang="en-US" sz="3100" dirty="0">
                <a:solidFill>
                  <a:srgbClr val="000000"/>
                </a:solidFill>
                <a:latin typeface="Century Gothic Paneuropean"/>
                <a:ea typeface="Century Gothic Paneuropean"/>
                <a:cs typeface="Century Gothic Paneuropean"/>
                <a:sym typeface="Century Gothic Paneuropean"/>
              </a:rPr>
              <a:t> </a:t>
            </a:r>
          </a:p>
          <a:p>
            <a:pPr marL="669291" lvl="1" indent="-334646" algn="just">
              <a:lnSpc>
                <a:spcPct val="150000"/>
              </a:lnSpc>
              <a:buFont typeface="Arial"/>
              <a:buChar char="•"/>
            </a:pPr>
            <a:r>
              <a:rPr lang="en-US" sz="2800" dirty="0">
                <a:solidFill>
                  <a:schemeClr val="tx1">
                    <a:lumMod val="75000"/>
                    <a:lumOff val="25000"/>
                  </a:schemeClr>
                </a:solidFill>
              </a:rPr>
              <a:t>Implemented using modern web technologies with socket-based communication for instant updates</a:t>
            </a:r>
            <a:r>
              <a:rPr lang="en-US" sz="2800" dirty="0">
                <a:solidFill>
                  <a:schemeClr val="tx1">
                    <a:lumMod val="75000"/>
                    <a:lumOff val="25000"/>
                  </a:schemeClr>
                </a:solidFill>
                <a:latin typeface="Century Gothic Paneuropean"/>
                <a:ea typeface="Century Gothic Paneuropean"/>
                <a:cs typeface="Century Gothic Paneuropean"/>
                <a:sym typeface="Century Gothic Paneuropean"/>
              </a:rPr>
              <a:t>.</a:t>
            </a:r>
          </a:p>
          <a:p>
            <a:pPr algn="just">
              <a:lnSpc>
                <a:spcPct val="150000"/>
              </a:lnSpc>
            </a:pPr>
            <a:r>
              <a:rPr lang="en-US" sz="3100" b="1" dirty="0">
                <a:solidFill>
                  <a:srgbClr val="000000"/>
                </a:solidFill>
                <a:latin typeface="Century Gothic Paneuropean Bold"/>
                <a:ea typeface="Century Gothic Paneuropean Bold"/>
                <a:cs typeface="Century Gothic Paneuropean Bold"/>
                <a:sym typeface="Century Gothic Paneuropean Bold"/>
              </a:rPr>
              <a:t>Key Contribution:</a:t>
            </a:r>
            <a:r>
              <a:rPr lang="en-US" sz="3100" dirty="0">
                <a:solidFill>
                  <a:srgbClr val="000000"/>
                </a:solidFill>
                <a:latin typeface="Century Gothic Paneuropean"/>
                <a:ea typeface="Century Gothic Paneuropean"/>
                <a:cs typeface="Century Gothic Paneuropean"/>
                <a:sym typeface="Century Gothic Paneuropean"/>
              </a:rPr>
              <a:t> </a:t>
            </a:r>
          </a:p>
          <a:p>
            <a:pPr marL="669291" lvl="1" indent="-334646" algn="just">
              <a:lnSpc>
                <a:spcPct val="150000"/>
              </a:lnSpc>
              <a:buFont typeface="Arial"/>
              <a:buChar char="•"/>
            </a:pPr>
            <a:r>
              <a:rPr lang="en-US" sz="2800" dirty="0">
                <a:solidFill>
                  <a:schemeClr val="tx1">
                    <a:lumMod val="75000"/>
                    <a:lumOff val="25000"/>
                  </a:schemeClr>
                </a:solidFill>
              </a:rPr>
              <a:t>Shows the effectiveness of real-time synchronization in collaborative learning and development environments</a:t>
            </a:r>
            <a:r>
              <a:rPr lang="en-US" sz="2800" dirty="0">
                <a:solidFill>
                  <a:schemeClr val="tx1">
                    <a:lumMod val="75000"/>
                    <a:lumOff val="25000"/>
                  </a:schemeClr>
                </a:solidFill>
                <a:latin typeface="Century Gothic Paneuropean"/>
                <a:ea typeface="Century Gothic Paneuropean"/>
                <a:cs typeface="Century Gothic Paneuropean"/>
                <a:sym typeface="Century Gothic Paneuropean"/>
              </a:rPr>
              <a:t>.</a:t>
            </a:r>
          </a:p>
          <a:p>
            <a:pPr algn="just">
              <a:lnSpc>
                <a:spcPct val="150000"/>
              </a:lnSpc>
            </a:pPr>
            <a:r>
              <a:rPr lang="en-US" sz="3100" b="1" dirty="0">
                <a:solidFill>
                  <a:srgbClr val="000000"/>
                </a:solidFill>
                <a:latin typeface="Century Gothic Paneuropean Bold"/>
                <a:ea typeface="Century Gothic Paneuropean Bold"/>
                <a:cs typeface="Century Gothic Paneuropean Bold"/>
                <a:sym typeface="Century Gothic Paneuropean Bold"/>
              </a:rPr>
              <a:t>Limitation:</a:t>
            </a:r>
            <a:r>
              <a:rPr lang="en-US" sz="3100" dirty="0">
                <a:solidFill>
                  <a:srgbClr val="000000"/>
                </a:solidFill>
                <a:latin typeface="Century Gothic Paneuropean"/>
                <a:ea typeface="Century Gothic Paneuropean"/>
                <a:cs typeface="Century Gothic Paneuropean"/>
                <a:sym typeface="Century Gothic Paneuropean"/>
              </a:rPr>
              <a:t> </a:t>
            </a:r>
          </a:p>
          <a:p>
            <a:pPr marL="669291" lvl="1" indent="-334646" algn="just">
              <a:lnSpc>
                <a:spcPct val="150000"/>
              </a:lnSpc>
              <a:buFont typeface="Arial"/>
              <a:buChar char="•"/>
            </a:pPr>
            <a:r>
              <a:rPr lang="en-US" sz="2800" dirty="0">
                <a:solidFill>
                  <a:schemeClr val="tx1">
                    <a:lumMod val="75000"/>
                    <a:lumOff val="25000"/>
                  </a:schemeClr>
                </a:solidFill>
              </a:rPr>
              <a:t>Does not include advanced IDE features</a:t>
            </a:r>
            <a:r>
              <a:rPr lang="en-US" sz="2800" dirty="0">
                <a:solidFill>
                  <a:schemeClr val="tx1">
                    <a:lumMod val="75000"/>
                    <a:lumOff val="25000"/>
                  </a:schemeClr>
                </a:solidFill>
                <a:latin typeface="Century Gothic Paneuropean"/>
                <a:ea typeface="Century Gothic Paneuropean"/>
                <a:cs typeface="Century Gothic Paneuropean"/>
                <a:sym typeface="Century Gothic Paneuropean"/>
              </a:rPr>
              <a:t>.</a:t>
            </a:r>
          </a:p>
          <a:p>
            <a:pPr algn="just">
              <a:lnSpc>
                <a:spcPct val="150000"/>
              </a:lnSpc>
            </a:pPr>
            <a:endParaRPr lang="en-US" sz="3100" u="sng" dirty="0">
              <a:solidFill>
                <a:srgbClr val="000000"/>
              </a:solidFill>
              <a:latin typeface="Century Gothic Paneuropean"/>
              <a:ea typeface="Century Gothic Paneuropean"/>
              <a:cs typeface="Century Gothic Paneuropean"/>
              <a:sym typeface="Century Gothic Paneuropean"/>
              <a:hlinkClick r:id="rId2" tooltip="https://www.ijraset.com/research-paper/static-and-contextual-text-vectorization-for-sentiment-analysis?utm_source=chatgpt.com"/>
            </a:endParaRPr>
          </a:p>
        </p:txBody>
      </p:sp>
      <p:grpSp>
        <p:nvGrpSpPr>
          <p:cNvPr id="12" name="Group 12"/>
          <p:cNvGrpSpPr/>
          <p:nvPr/>
        </p:nvGrpSpPr>
        <p:grpSpPr>
          <a:xfrm>
            <a:off x="488343" y="-1085587"/>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877123" y="256443"/>
            <a:ext cx="8537178" cy="1392115"/>
          </a:xfrm>
          <a:prstGeom prst="rect">
            <a:avLst/>
          </a:prstGeom>
        </p:spPr>
        <p:txBody>
          <a:bodyPr lIns="0" tIns="0" rIns="0" bIns="0" rtlCol="0" anchor="t">
            <a:spAutoFit/>
          </a:bodyPr>
          <a:lstStyle/>
          <a:p>
            <a:pPr algn="ctr">
              <a:lnSpc>
                <a:spcPts val="11469"/>
              </a:lnSpc>
            </a:pPr>
            <a:r>
              <a:rPr lang="en-US" sz="8192" b="1">
                <a:solidFill>
                  <a:srgbClr val="000000"/>
                </a:solidFill>
                <a:latin typeface="Century Gothic Paneuropean Bold"/>
                <a:ea typeface="Century Gothic Paneuropean Bold"/>
                <a:cs typeface="Century Gothic Paneuropean Bold"/>
                <a:sym typeface="Century Gothic Paneuropean Bold"/>
              </a:rPr>
              <a:t>EXISTING SYSTEM</a:t>
            </a:r>
          </a:p>
        </p:txBody>
      </p:sp>
      <p:sp>
        <p:nvSpPr>
          <p:cNvPr id="9" name="TextBox 9"/>
          <p:cNvSpPr txBox="1"/>
          <p:nvPr/>
        </p:nvSpPr>
        <p:spPr>
          <a:xfrm>
            <a:off x="1975225" y="1845625"/>
            <a:ext cx="14340974" cy="5100179"/>
          </a:xfrm>
          <a:prstGeom prst="rect">
            <a:avLst/>
          </a:prstGeom>
        </p:spPr>
        <p:txBody>
          <a:bodyPr lIns="0" tIns="0" rIns="0" bIns="0" rtlCol="0" anchor="t">
            <a:spAutoFit/>
          </a:bodyPr>
          <a:lstStyle/>
          <a:p>
            <a:pPr algn="just">
              <a:lnSpc>
                <a:spcPct val="150000"/>
              </a:lnSpc>
            </a:pPr>
            <a:r>
              <a:rPr lang="en-US" sz="2800" dirty="0">
                <a:solidFill>
                  <a:schemeClr val="tx1">
                    <a:lumMod val="75000"/>
                    <a:lumOff val="25000"/>
                  </a:schemeClr>
                </a:solidFill>
              </a:rPr>
              <a:t>In the existing system, most developers use traditional code editors such as Sublime Text, Notepad++, or Visual Studio Code for writing and editing code. These editors are mainly designed for individual use and do not provide built-in real-time collaboration features. When developers need to work together, they share files manually through email or cloud storage platforms like Google Drive, and communicate using separate chat applications. This process is time-consuming and may lead to version conflicts, miscommunication, and reduced productivity. Therefore, the existing system lacks an integrated environment for real-time collaborative coding and communication.</a:t>
            </a:r>
            <a:endParaRPr lang="en-US" sz="2800" dirty="0">
              <a:solidFill>
                <a:schemeClr val="tx1">
                  <a:lumMod val="75000"/>
                  <a:lumOff val="25000"/>
                </a:schemeClr>
              </a:solidFill>
              <a:latin typeface="Century Gothic Paneuropean"/>
              <a:ea typeface="Century Gothic Paneuropean"/>
              <a:cs typeface="Century Gothic Paneuropean"/>
              <a:sym typeface="Century Gothic Paneuropean"/>
            </a:endParaRPr>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3791273" y="256443"/>
            <a:ext cx="10708878" cy="1392115"/>
          </a:xfrm>
          <a:prstGeom prst="rect">
            <a:avLst/>
          </a:prstGeom>
        </p:spPr>
        <p:txBody>
          <a:bodyPr lIns="0" tIns="0" rIns="0" bIns="0" rtlCol="0" anchor="t">
            <a:spAutoFit/>
          </a:bodyPr>
          <a:lstStyle/>
          <a:p>
            <a:pPr algn="ctr">
              <a:lnSpc>
                <a:spcPts val="11469"/>
              </a:lnSpc>
            </a:pPr>
            <a:r>
              <a:rPr lang="en-US" sz="8192" b="1">
                <a:solidFill>
                  <a:srgbClr val="000000"/>
                </a:solidFill>
                <a:latin typeface="Century Gothic Paneuropean Bold"/>
                <a:ea typeface="Century Gothic Paneuropean Bold"/>
                <a:cs typeface="Century Gothic Paneuropean Bold"/>
                <a:sym typeface="Century Gothic Paneuropean Bold"/>
              </a:rPr>
              <a:t>PROPOSED SOLUTION</a:t>
            </a:r>
          </a:p>
        </p:txBody>
      </p:sp>
      <p:sp>
        <p:nvSpPr>
          <p:cNvPr id="9" name="TextBox 9"/>
          <p:cNvSpPr txBox="1"/>
          <p:nvPr/>
        </p:nvSpPr>
        <p:spPr>
          <a:xfrm>
            <a:off x="1975225" y="1845625"/>
            <a:ext cx="14340974" cy="5741059"/>
          </a:xfrm>
          <a:prstGeom prst="rect">
            <a:avLst/>
          </a:prstGeom>
        </p:spPr>
        <p:txBody>
          <a:bodyPr lIns="0" tIns="0" rIns="0" bIns="0" rtlCol="0" anchor="t">
            <a:spAutoFit/>
          </a:bodyPr>
          <a:lstStyle/>
          <a:p>
            <a:pPr>
              <a:lnSpc>
                <a:spcPct val="150000"/>
              </a:lnSpc>
            </a:pPr>
            <a:r>
              <a:rPr lang="en-US" sz="2800" dirty="0">
                <a:solidFill>
                  <a:schemeClr val="tx1">
                    <a:lumMod val="75000"/>
                    <a:lumOff val="25000"/>
                  </a:schemeClr>
                </a:solidFill>
              </a:rPr>
              <a:t>To overcome the limitations of the existing system, we propose a </a:t>
            </a:r>
            <a:r>
              <a:rPr lang="en-US" sz="2800" b="1" dirty="0">
                <a:solidFill>
                  <a:schemeClr val="tx1">
                    <a:lumMod val="75000"/>
                    <a:lumOff val="25000"/>
                  </a:schemeClr>
                </a:solidFill>
              </a:rPr>
              <a:t>Collaborative Code Editor</a:t>
            </a:r>
            <a:r>
              <a:rPr lang="en-US" sz="2800" dirty="0">
                <a:solidFill>
                  <a:schemeClr val="tx1">
                    <a:lumMod val="75000"/>
                    <a:lumOff val="25000"/>
                  </a:schemeClr>
                </a:solidFill>
              </a:rPr>
              <a:t>, a web-based platform that enables real-time collaborative programming. In this system, users can securely log in using their Google account and create or join coding rooms using a unique Room ID and password. Multiple programmers can work on the same code simultaneously, and all changes are synchronized instantly for every user in the room.</a:t>
            </a:r>
          </a:p>
          <a:p>
            <a:pPr>
              <a:lnSpc>
                <a:spcPct val="150000"/>
              </a:lnSpc>
            </a:pPr>
            <a:r>
              <a:rPr lang="en-US" sz="2800" dirty="0">
                <a:solidFill>
                  <a:schemeClr val="tx1">
                    <a:lumMod val="75000"/>
                    <a:lumOff val="25000"/>
                  </a:schemeClr>
                </a:solidFill>
              </a:rPr>
              <a:t>The system also includes an integrated chat feature that allows collaborators to communicate without using external applications. The editor interface is inspired by Visual Studio Code, providing a familiar and user-friendly coding environment. This proposed system improves teamwork, reduces version conflicts, and increases overall development efficiency.</a:t>
            </a:r>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3313775" y="355322"/>
            <a:ext cx="11843532" cy="3950633"/>
          </a:xfrm>
          <a:prstGeom prst="rect">
            <a:avLst/>
          </a:prstGeom>
        </p:spPr>
        <p:txBody>
          <a:bodyPr lIns="0" tIns="0" rIns="0" bIns="0" rtlCol="0" anchor="t">
            <a:spAutoFit/>
          </a:bodyPr>
          <a:lstStyle/>
          <a:p>
            <a:pPr algn="ctr">
              <a:lnSpc>
                <a:spcPts val="10489"/>
              </a:lnSpc>
            </a:pPr>
            <a:r>
              <a:rPr lang="en-US" sz="7492" b="1" dirty="0">
                <a:solidFill>
                  <a:srgbClr val="000000"/>
                </a:solidFill>
                <a:latin typeface="Century Gothic Paneuropean Bold"/>
                <a:ea typeface="Century Gothic Paneuropean Bold"/>
                <a:cs typeface="Century Gothic Paneuropean Bold"/>
                <a:sym typeface="Century Gothic Paneuropean Bold"/>
              </a:rPr>
              <a:t>ARCHITECTURE DIAGRAM</a:t>
            </a:r>
          </a:p>
          <a:p>
            <a:pPr algn="ctr">
              <a:lnSpc>
                <a:spcPts val="10489"/>
              </a:lnSpc>
            </a:pPr>
            <a:endParaRPr lang="en-US" sz="7492" b="1" dirty="0">
              <a:solidFill>
                <a:srgbClr val="000000"/>
              </a:solidFill>
              <a:latin typeface="Century Gothic Paneuropean Bold"/>
              <a:ea typeface="Century Gothic Paneuropean Bold"/>
              <a:cs typeface="Century Gothic Paneuropean Bold"/>
              <a:sym typeface="Century Gothic Paneuropean Bold"/>
            </a:endParaRPr>
          </a:p>
          <a:p>
            <a:pPr algn="ctr">
              <a:lnSpc>
                <a:spcPts val="10489"/>
              </a:lnSpc>
            </a:pPr>
            <a:endParaRPr lang="en-US" sz="7492" b="1" dirty="0">
              <a:solidFill>
                <a:srgbClr val="000000"/>
              </a:solidFill>
              <a:latin typeface="Century Gothic Paneuropean Bold"/>
              <a:ea typeface="Century Gothic Paneuropean Bold"/>
              <a:cs typeface="Century Gothic Paneuropean Bold"/>
              <a:sym typeface="Century Gothic Paneuropean Bold"/>
            </a:endParaRPr>
          </a:p>
        </p:txBody>
      </p:sp>
      <p:pic>
        <p:nvPicPr>
          <p:cNvPr id="16" name="Picture 15">
            <a:extLst>
              <a:ext uri="{FF2B5EF4-FFF2-40B4-BE49-F238E27FC236}">
                <a16:creationId xmlns:a16="http://schemas.microsoft.com/office/drawing/2014/main" id="{AD5AE9F6-51AD-48B2-AD6F-2F5CBA1D38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2329" y="1638300"/>
            <a:ext cx="10683341" cy="72668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4793053" y="355322"/>
            <a:ext cx="8537178" cy="1267018"/>
          </a:xfrm>
          <a:prstGeom prst="rect">
            <a:avLst/>
          </a:prstGeom>
        </p:spPr>
        <p:txBody>
          <a:bodyPr lIns="0" tIns="0" rIns="0" bIns="0" rtlCol="0" anchor="t">
            <a:spAutoFit/>
          </a:bodyPr>
          <a:lstStyle/>
          <a:p>
            <a:pPr algn="ctr">
              <a:lnSpc>
                <a:spcPts val="10489"/>
              </a:lnSpc>
            </a:pPr>
            <a:r>
              <a:rPr lang="en-US" sz="7492" b="1">
                <a:solidFill>
                  <a:srgbClr val="000000"/>
                </a:solidFill>
                <a:latin typeface="Century Gothic Paneuropean Bold"/>
                <a:ea typeface="Century Gothic Paneuropean Bold"/>
                <a:cs typeface="Century Gothic Paneuropean Bold"/>
                <a:sym typeface="Century Gothic Paneuropean Bold"/>
              </a:rPr>
              <a:t>MODULES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CFF"/>
        </a:solidFill>
        <a:effectLst/>
      </p:bgPr>
    </p:bg>
    <p:spTree>
      <p:nvGrpSpPr>
        <p:cNvPr id="1" name=""/>
        <p:cNvGrpSpPr/>
        <p:nvPr/>
      </p:nvGrpSpPr>
      <p:grpSpPr>
        <a:xfrm>
          <a:off x="0" y="0"/>
          <a:ext cx="0" cy="0"/>
          <a:chOff x="0" y="0"/>
          <a:chExt cx="0" cy="0"/>
        </a:xfrm>
      </p:grpSpPr>
      <p:grpSp>
        <p:nvGrpSpPr>
          <p:cNvPr id="2" name="Group 2"/>
          <p:cNvGrpSpPr/>
          <p:nvPr/>
        </p:nvGrpSpPr>
        <p:grpSpPr>
          <a:xfrm>
            <a:off x="1990926" y="2713006"/>
            <a:ext cx="6531402" cy="5683009"/>
            <a:chOff x="0" y="0"/>
            <a:chExt cx="1720205" cy="1496760"/>
          </a:xfrm>
        </p:grpSpPr>
        <p:sp>
          <p:nvSpPr>
            <p:cNvPr id="3" name="Freeform 3"/>
            <p:cNvSpPr/>
            <p:nvPr/>
          </p:nvSpPr>
          <p:spPr>
            <a:xfrm>
              <a:off x="0" y="0"/>
              <a:ext cx="1720205" cy="1496760"/>
            </a:xfrm>
            <a:custGeom>
              <a:avLst/>
              <a:gdLst/>
              <a:ahLst/>
              <a:cxnLst/>
              <a:rect l="l" t="t" r="r" b="b"/>
              <a:pathLst>
                <a:path w="1720205" h="1496760">
                  <a:moveTo>
                    <a:pt x="0" y="0"/>
                  </a:moveTo>
                  <a:lnTo>
                    <a:pt x="1720205" y="0"/>
                  </a:lnTo>
                  <a:lnTo>
                    <a:pt x="1720205" y="1496760"/>
                  </a:lnTo>
                  <a:lnTo>
                    <a:pt x="0" y="1496760"/>
                  </a:lnTo>
                  <a:close/>
                </a:path>
              </a:pathLst>
            </a:custGeom>
            <a:solidFill>
              <a:srgbClr val="787675"/>
            </a:solidFill>
          </p:spPr>
        </p:sp>
        <p:sp>
          <p:nvSpPr>
            <p:cNvPr id="4" name="TextBox 4"/>
            <p:cNvSpPr txBox="1"/>
            <p:nvPr/>
          </p:nvSpPr>
          <p:spPr>
            <a:xfrm>
              <a:off x="0" y="-38100"/>
              <a:ext cx="1720205" cy="1534860"/>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3009908" y="3335821"/>
            <a:ext cx="4493438" cy="4408805"/>
          </a:xfrm>
          <a:prstGeom prst="rect">
            <a:avLst/>
          </a:prstGeom>
        </p:spPr>
        <p:txBody>
          <a:bodyPr lIns="0" tIns="0" rIns="0" bIns="0" rtlCol="0" anchor="t">
            <a:spAutoFit/>
          </a:bodyPr>
          <a:lstStyle/>
          <a:p>
            <a:pPr algn="l">
              <a:lnSpc>
                <a:spcPts val="4959"/>
              </a:lnSpc>
            </a:pPr>
            <a:r>
              <a:rPr lang="en-US" sz="3999" b="1" dirty="0">
                <a:solidFill>
                  <a:srgbClr val="FFFFFF"/>
                </a:solidFill>
                <a:latin typeface="Glacial Indifference Bold"/>
                <a:ea typeface="Glacial Indifference Bold"/>
                <a:cs typeface="Glacial Indifference Bold"/>
                <a:sym typeface="Glacial Indifference Bold"/>
              </a:rPr>
              <a:t>SOFTWARE USED</a:t>
            </a:r>
          </a:p>
          <a:p>
            <a:pPr marL="863599" lvl="1" indent="-431800" algn="l">
              <a:lnSpc>
                <a:spcPts val="4959"/>
              </a:lnSpc>
              <a:buAutoNum type="arabicPeriod"/>
            </a:pPr>
            <a:r>
              <a:rPr lang="en-US" sz="3999" dirty="0" err="1">
                <a:solidFill>
                  <a:srgbClr val="FFFFFF"/>
                </a:solidFill>
                <a:latin typeface="Glacial Indifference"/>
                <a:ea typeface="Glacial Indifference"/>
                <a:cs typeface="Glacial Indifference"/>
                <a:sym typeface="Glacial Indifference"/>
              </a:rPr>
              <a:t>Tensorflow</a:t>
            </a:r>
            <a:endParaRPr lang="en-US" sz="3999" dirty="0">
              <a:solidFill>
                <a:srgbClr val="FFFFFF"/>
              </a:solidFill>
              <a:latin typeface="Glacial Indifference"/>
              <a:ea typeface="Glacial Indifference"/>
              <a:cs typeface="Glacial Indifference"/>
              <a:sym typeface="Glacial Indifference"/>
            </a:endParaRPr>
          </a:p>
          <a:p>
            <a:pPr marL="863599" lvl="1" indent="-431800" algn="l">
              <a:lnSpc>
                <a:spcPts val="4959"/>
              </a:lnSpc>
              <a:buAutoNum type="arabicPeriod"/>
            </a:pPr>
            <a:r>
              <a:rPr lang="en-US" sz="3999" dirty="0">
                <a:solidFill>
                  <a:srgbClr val="FFFFFF"/>
                </a:solidFill>
                <a:latin typeface="Glacial Indifference"/>
                <a:ea typeface="Glacial Indifference"/>
                <a:cs typeface="Glacial Indifference"/>
                <a:sym typeface="Glacial Indifference"/>
              </a:rPr>
              <a:t>Scikit-Learn</a:t>
            </a:r>
          </a:p>
          <a:p>
            <a:pPr marL="863599" lvl="1" indent="-431800" algn="l">
              <a:lnSpc>
                <a:spcPts val="4959"/>
              </a:lnSpc>
              <a:buAutoNum type="arabicPeriod"/>
            </a:pPr>
            <a:r>
              <a:rPr lang="en-US" sz="3999" dirty="0">
                <a:solidFill>
                  <a:srgbClr val="FFFFFF"/>
                </a:solidFill>
                <a:latin typeface="Glacial Indifference"/>
                <a:ea typeface="Glacial Indifference"/>
                <a:cs typeface="Glacial Indifference"/>
                <a:sym typeface="Glacial Indifference"/>
              </a:rPr>
              <a:t>Matplotlib</a:t>
            </a:r>
          </a:p>
          <a:p>
            <a:pPr marL="863599" lvl="1" indent="-431800" algn="l">
              <a:lnSpc>
                <a:spcPts val="4959"/>
              </a:lnSpc>
              <a:buAutoNum type="arabicPeriod"/>
            </a:pPr>
            <a:r>
              <a:rPr lang="en-US" sz="3999" dirty="0">
                <a:solidFill>
                  <a:srgbClr val="FFFFFF"/>
                </a:solidFill>
                <a:latin typeface="Glacial Indifference"/>
                <a:ea typeface="Glacial Indifference"/>
                <a:cs typeface="Glacial Indifference"/>
                <a:sym typeface="Glacial Indifference"/>
              </a:rPr>
              <a:t>Seaborn</a:t>
            </a:r>
          </a:p>
          <a:p>
            <a:pPr marL="863599" lvl="1" indent="-431800" algn="l">
              <a:lnSpc>
                <a:spcPts val="4959"/>
              </a:lnSpc>
              <a:buAutoNum type="arabicPeriod"/>
            </a:pPr>
            <a:r>
              <a:rPr lang="en-US" sz="3999" dirty="0">
                <a:solidFill>
                  <a:srgbClr val="FFFFFF"/>
                </a:solidFill>
                <a:latin typeface="Glacial Indifference"/>
                <a:ea typeface="Glacial Indifference"/>
                <a:cs typeface="Glacial Indifference"/>
                <a:sym typeface="Glacial Indifference"/>
              </a:rPr>
              <a:t>Python Idle/IDE</a:t>
            </a:r>
          </a:p>
          <a:p>
            <a:pPr algn="l">
              <a:lnSpc>
                <a:spcPts val="4959"/>
              </a:lnSpc>
            </a:pPr>
            <a:endParaRPr lang="en-US" sz="3999" dirty="0">
              <a:solidFill>
                <a:srgbClr val="FFFFFF"/>
              </a:solidFill>
              <a:latin typeface="Glacial Indifference"/>
              <a:ea typeface="Glacial Indifference"/>
              <a:cs typeface="Glacial Indifference"/>
              <a:sym typeface="Glacial Indifference"/>
            </a:endParaRPr>
          </a:p>
        </p:txBody>
      </p:sp>
      <p:sp>
        <p:nvSpPr>
          <p:cNvPr id="6" name="Freeform 6"/>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488343" y="-989670"/>
            <a:ext cx="1080715" cy="2956684"/>
            <a:chOff x="0" y="0"/>
            <a:chExt cx="284633" cy="778715"/>
          </a:xfrm>
        </p:grpSpPr>
        <p:sp>
          <p:nvSpPr>
            <p:cNvPr id="8" name="Freeform 8"/>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9" name="TextBox 9"/>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746065" y="542194"/>
            <a:ext cx="9336227" cy="877762"/>
          </a:xfrm>
          <a:prstGeom prst="rect">
            <a:avLst/>
          </a:prstGeom>
        </p:spPr>
        <p:txBody>
          <a:bodyPr lIns="0" tIns="0" rIns="0" bIns="0" rtlCol="0" anchor="t">
            <a:spAutoFit/>
          </a:bodyPr>
          <a:lstStyle/>
          <a:p>
            <a:pPr algn="ctr">
              <a:lnSpc>
                <a:spcPts val="7269"/>
              </a:lnSpc>
            </a:pPr>
            <a:r>
              <a:rPr lang="en-US" sz="5192" b="1">
                <a:solidFill>
                  <a:srgbClr val="000000"/>
                </a:solidFill>
                <a:latin typeface="Century Gothic Paneuropean Bold"/>
                <a:ea typeface="Century Gothic Paneuropean Bold"/>
                <a:cs typeface="Century Gothic Paneuropean Bold"/>
                <a:sym typeface="Century Gothic Paneuropean Bold"/>
              </a:rPr>
              <a:t>SOFTWARE &amp; HARDWARE USED</a:t>
            </a:r>
          </a:p>
        </p:txBody>
      </p:sp>
      <p:grpSp>
        <p:nvGrpSpPr>
          <p:cNvPr id="11" name="Group 11"/>
          <p:cNvGrpSpPr/>
          <p:nvPr/>
        </p:nvGrpSpPr>
        <p:grpSpPr>
          <a:xfrm>
            <a:off x="9836840" y="2713006"/>
            <a:ext cx="6659241" cy="5683009"/>
            <a:chOff x="0" y="0"/>
            <a:chExt cx="1753874" cy="1496760"/>
          </a:xfrm>
        </p:grpSpPr>
        <p:sp>
          <p:nvSpPr>
            <p:cNvPr id="12" name="Freeform 12"/>
            <p:cNvSpPr/>
            <p:nvPr/>
          </p:nvSpPr>
          <p:spPr>
            <a:xfrm>
              <a:off x="0" y="0"/>
              <a:ext cx="1753874" cy="1496760"/>
            </a:xfrm>
            <a:custGeom>
              <a:avLst/>
              <a:gdLst/>
              <a:ahLst/>
              <a:cxnLst/>
              <a:rect l="l" t="t" r="r" b="b"/>
              <a:pathLst>
                <a:path w="1753874" h="1496760">
                  <a:moveTo>
                    <a:pt x="0" y="0"/>
                  </a:moveTo>
                  <a:lnTo>
                    <a:pt x="1753874" y="0"/>
                  </a:lnTo>
                  <a:lnTo>
                    <a:pt x="1753874" y="1496760"/>
                  </a:lnTo>
                  <a:lnTo>
                    <a:pt x="0" y="1496760"/>
                  </a:lnTo>
                  <a:close/>
                </a:path>
              </a:pathLst>
            </a:custGeom>
            <a:solidFill>
              <a:srgbClr val="787675"/>
            </a:solidFill>
          </p:spPr>
        </p:sp>
        <p:sp>
          <p:nvSpPr>
            <p:cNvPr id="13" name="TextBox 13"/>
            <p:cNvSpPr txBox="1"/>
            <p:nvPr/>
          </p:nvSpPr>
          <p:spPr>
            <a:xfrm>
              <a:off x="0" y="-38100"/>
              <a:ext cx="1753874" cy="153486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1094353" y="3393210"/>
            <a:ext cx="4493438" cy="4408805"/>
          </a:xfrm>
          <a:prstGeom prst="rect">
            <a:avLst/>
          </a:prstGeom>
        </p:spPr>
        <p:txBody>
          <a:bodyPr lIns="0" tIns="0" rIns="0" bIns="0" rtlCol="0" anchor="t">
            <a:spAutoFit/>
          </a:bodyPr>
          <a:lstStyle/>
          <a:p>
            <a:pPr algn="l">
              <a:lnSpc>
                <a:spcPts val="4959"/>
              </a:lnSpc>
            </a:pPr>
            <a:r>
              <a:rPr lang="en-US" sz="3999" b="1">
                <a:solidFill>
                  <a:srgbClr val="FFFFFF"/>
                </a:solidFill>
                <a:latin typeface="Glacial Indifference Bold"/>
                <a:ea typeface="Glacial Indifference Bold"/>
                <a:cs typeface="Glacial Indifference Bold"/>
                <a:sym typeface="Glacial Indifference Bold"/>
              </a:rPr>
              <a:t>HARDWARE USED</a:t>
            </a:r>
          </a:p>
          <a:p>
            <a:pPr marL="863599" lvl="1" indent="-431800" algn="l">
              <a:lnSpc>
                <a:spcPts val="4959"/>
              </a:lnSpc>
              <a:buAutoNum type="arabicPeriod"/>
            </a:pPr>
            <a:r>
              <a:rPr lang="en-US" sz="3999">
                <a:solidFill>
                  <a:srgbClr val="FFFFFF"/>
                </a:solidFill>
                <a:latin typeface="Glacial Indifference"/>
                <a:ea typeface="Glacial Indifference"/>
                <a:cs typeface="Glacial Indifference"/>
                <a:sym typeface="Glacial Indifference"/>
              </a:rPr>
              <a:t>HDD:10GB</a:t>
            </a:r>
          </a:p>
          <a:p>
            <a:pPr marL="863599" lvl="1" indent="-431800" algn="l">
              <a:lnSpc>
                <a:spcPts val="4959"/>
              </a:lnSpc>
              <a:buAutoNum type="arabicPeriod"/>
            </a:pPr>
            <a:r>
              <a:rPr lang="en-US" sz="3999">
                <a:solidFill>
                  <a:srgbClr val="FFFFFF"/>
                </a:solidFill>
                <a:latin typeface="Glacial Indifference"/>
                <a:ea typeface="Glacial Indifference"/>
                <a:cs typeface="Glacial Indifference"/>
                <a:sym typeface="Glacial Indifference"/>
              </a:rPr>
              <a:t>RAM:8GB above</a:t>
            </a:r>
          </a:p>
          <a:p>
            <a:pPr marL="863599" lvl="1" indent="-431800" algn="l">
              <a:lnSpc>
                <a:spcPts val="4959"/>
              </a:lnSpc>
              <a:buAutoNum type="arabicPeriod"/>
            </a:pPr>
            <a:r>
              <a:rPr lang="en-US" sz="3999">
                <a:solidFill>
                  <a:srgbClr val="FFFFFF"/>
                </a:solidFill>
                <a:latin typeface="Glacial Indifference"/>
                <a:ea typeface="Glacial Indifference"/>
                <a:cs typeface="Glacial Indifference"/>
                <a:sym typeface="Glacial Indifference"/>
              </a:rPr>
              <a:t>Processor:i5 Gen 8 above</a:t>
            </a:r>
          </a:p>
          <a:p>
            <a:pPr marL="863599" lvl="1" indent="-431800" algn="l">
              <a:lnSpc>
                <a:spcPts val="4959"/>
              </a:lnSpc>
              <a:buAutoNum type="arabicPeriod"/>
            </a:pPr>
            <a:r>
              <a:rPr lang="en-US" sz="3999">
                <a:solidFill>
                  <a:srgbClr val="FFFFFF"/>
                </a:solidFill>
                <a:latin typeface="Glacial Indifference"/>
                <a:ea typeface="Glacial Indifference"/>
                <a:cs typeface="Glacial Indifference"/>
                <a:sym typeface="Glacial Indifference"/>
              </a:rPr>
              <a:t>OS: Win 11</a:t>
            </a:r>
          </a:p>
          <a:p>
            <a:pPr algn="l">
              <a:lnSpc>
                <a:spcPts val="4959"/>
              </a:lnSpc>
            </a:pPr>
            <a:endParaRPr lang="en-US" sz="3999">
              <a:solidFill>
                <a:srgbClr val="FFFFFF"/>
              </a:solidFill>
              <a:latin typeface="Glacial Indifference"/>
              <a:ea typeface="Glacial Indifference"/>
              <a:cs typeface="Glacial Indifference"/>
              <a:sym typeface="Glacial Indifference"/>
            </a:endParaRPr>
          </a:p>
        </p:txBody>
      </p:sp>
      <p:grpSp>
        <p:nvGrpSpPr>
          <p:cNvPr id="15" name="Group 15"/>
          <p:cNvGrpSpPr/>
          <p:nvPr/>
        </p:nvGrpSpPr>
        <p:grpSpPr>
          <a:xfrm>
            <a:off x="-529352" y="9803843"/>
            <a:ext cx="19346704" cy="821917"/>
            <a:chOff x="0" y="0"/>
            <a:chExt cx="5095428" cy="216472"/>
          </a:xfrm>
        </p:grpSpPr>
        <p:sp>
          <p:nvSpPr>
            <p:cNvPr id="16" name="Freeform 1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17" name="TextBox 1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16718943" y="-989670"/>
            <a:ext cx="1080715" cy="2956684"/>
            <a:chOff x="0" y="0"/>
            <a:chExt cx="284633" cy="778715"/>
          </a:xfrm>
        </p:grpSpPr>
        <p:sp>
          <p:nvSpPr>
            <p:cNvPr id="19" name="Freeform 1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20" name="TextBox 2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21" name="Freeform 21"/>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4875411" y="699997"/>
            <a:ext cx="8537178" cy="1267018"/>
          </a:xfrm>
          <a:prstGeom prst="rect">
            <a:avLst/>
          </a:prstGeom>
        </p:spPr>
        <p:txBody>
          <a:bodyPr lIns="0" tIns="0" rIns="0" bIns="0" rtlCol="0" anchor="t">
            <a:spAutoFit/>
          </a:bodyPr>
          <a:lstStyle/>
          <a:p>
            <a:pPr algn="ctr">
              <a:lnSpc>
                <a:spcPts val="10489"/>
              </a:lnSpc>
            </a:pPr>
            <a:r>
              <a:rPr lang="en-US" sz="7492" b="1">
                <a:solidFill>
                  <a:srgbClr val="000000"/>
                </a:solidFill>
                <a:latin typeface="Century Gothic Paneuropean Bold"/>
                <a:ea typeface="Century Gothic Paneuropean Bold"/>
                <a:cs typeface="Century Gothic Paneuropean Bold"/>
                <a:sym typeface="Century Gothic Paneuropean Bold"/>
              </a:rPr>
              <a:t>OUTPUT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4875411" y="699997"/>
            <a:ext cx="8537178" cy="1267018"/>
          </a:xfrm>
          <a:prstGeom prst="rect">
            <a:avLst/>
          </a:prstGeom>
        </p:spPr>
        <p:txBody>
          <a:bodyPr lIns="0" tIns="0" rIns="0" bIns="0" rtlCol="0" anchor="t">
            <a:spAutoFit/>
          </a:bodyPr>
          <a:lstStyle/>
          <a:p>
            <a:pPr algn="ctr">
              <a:lnSpc>
                <a:spcPts val="10489"/>
              </a:lnSpc>
            </a:pPr>
            <a:r>
              <a:rPr lang="en-US" sz="7492" b="1">
                <a:solidFill>
                  <a:srgbClr val="000000"/>
                </a:solidFill>
                <a:latin typeface="Century Gothic Paneuropean Bold"/>
                <a:ea typeface="Century Gothic Paneuropean Bold"/>
                <a:cs typeface="Century Gothic Paneuropean Bold"/>
                <a:sym typeface="Century Gothic Paneuropean Bold"/>
              </a:rPr>
              <a:t>OUTPUT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875411" y="328516"/>
            <a:ext cx="8537178" cy="1267018"/>
          </a:xfrm>
          <a:prstGeom prst="rect">
            <a:avLst/>
          </a:prstGeom>
        </p:spPr>
        <p:txBody>
          <a:bodyPr lIns="0" tIns="0" rIns="0" bIns="0" rtlCol="0" anchor="t">
            <a:spAutoFit/>
          </a:bodyPr>
          <a:lstStyle/>
          <a:p>
            <a:pPr algn="ctr">
              <a:lnSpc>
                <a:spcPts val="10489"/>
              </a:lnSpc>
            </a:pPr>
            <a:r>
              <a:rPr lang="en-US" sz="7492" b="1">
                <a:solidFill>
                  <a:srgbClr val="000000"/>
                </a:solidFill>
                <a:latin typeface="Century Gothic Paneuropean Bold"/>
                <a:ea typeface="Century Gothic Paneuropean Bold"/>
                <a:cs typeface="Century Gothic Paneuropean Bold"/>
                <a:sym typeface="Century Gothic Paneuropean Bold"/>
              </a:rPr>
              <a:t>REFERENCES</a:t>
            </a:r>
          </a:p>
        </p:txBody>
      </p:sp>
      <p:sp>
        <p:nvSpPr>
          <p:cNvPr id="3" name="TextBox 3"/>
          <p:cNvSpPr txBox="1"/>
          <p:nvPr/>
        </p:nvSpPr>
        <p:spPr>
          <a:xfrm>
            <a:off x="1569057" y="1760043"/>
            <a:ext cx="15149885" cy="6394315"/>
          </a:xfrm>
          <a:prstGeom prst="rect">
            <a:avLst/>
          </a:prstGeom>
        </p:spPr>
        <p:txBody>
          <a:bodyPr lIns="0" tIns="0" rIns="0" bIns="0" rtlCol="0" anchor="t">
            <a:spAutoFit/>
          </a:bodyPr>
          <a:lstStyle/>
          <a:p>
            <a:pPr algn="just">
              <a:lnSpc>
                <a:spcPct val="150000"/>
              </a:lnSpc>
            </a:pPr>
            <a:r>
              <a:rPr lang="en-US" sz="2800" dirty="0">
                <a:solidFill>
                  <a:srgbClr val="000000"/>
                </a:solidFill>
                <a:latin typeface="Century Gothic Paneuropean"/>
                <a:ea typeface="Century Gothic Paneuropean"/>
                <a:cs typeface="Century Gothic Paneuropean"/>
                <a:sym typeface="Century Gothic Paneuropean"/>
              </a:rPr>
              <a:t>1.</a:t>
            </a:r>
            <a:r>
              <a:rPr lang="en-IN" sz="2800" dirty="0">
                <a:solidFill>
                  <a:schemeClr val="tx1">
                    <a:lumMod val="75000"/>
                    <a:lumOff val="25000"/>
                  </a:schemeClr>
                </a:solidFill>
              </a:rPr>
              <a:t>K. Sharma, R. Patel</a:t>
            </a:r>
            <a:r>
              <a:rPr lang="en-US" sz="2800" dirty="0">
                <a:solidFill>
                  <a:srgbClr val="000000"/>
                </a:solidFill>
                <a:latin typeface="Century Gothic Paneuropean"/>
                <a:ea typeface="Century Gothic Paneuropean"/>
                <a:cs typeface="Century Gothic Paneuropean"/>
                <a:sym typeface="Century Gothic Paneuropean"/>
              </a:rPr>
              <a:t>, “</a:t>
            </a:r>
            <a:r>
              <a:rPr lang="en-US" sz="2800" dirty="0"/>
              <a:t>Real-Time Collaborative Code Editor Using Web Sockets (2022)</a:t>
            </a:r>
            <a:r>
              <a:rPr lang="en-US" sz="2800" dirty="0">
                <a:solidFill>
                  <a:srgbClr val="000000"/>
                </a:solidFill>
                <a:latin typeface="Century Gothic Paneuropean"/>
                <a:ea typeface="Century Gothic Paneuropean"/>
                <a:cs typeface="Century Gothic Paneuropean"/>
                <a:sym typeface="Century Gothic Paneuropean"/>
              </a:rPr>
              <a:t>”.</a:t>
            </a:r>
            <a:r>
              <a:rPr lang="en-US" sz="2800" dirty="0">
                <a:solidFill>
                  <a:schemeClr val="tx1">
                    <a:lumMod val="75000"/>
                    <a:lumOff val="25000"/>
                  </a:schemeClr>
                </a:solidFill>
              </a:rPr>
              <a:t>Design of a web-based collaborative code editor using Web Sockets for real-time synchronization and multi-user editing</a:t>
            </a:r>
            <a:r>
              <a:rPr lang="en-US" sz="2800" dirty="0">
                <a:solidFill>
                  <a:schemeClr val="tx1">
                    <a:lumMod val="75000"/>
                    <a:lumOff val="25000"/>
                  </a:schemeClr>
                </a:solidFill>
                <a:latin typeface="Century Gothic Paneuropean"/>
                <a:ea typeface="Century Gothic Paneuropean"/>
                <a:cs typeface="Century Gothic Paneuropean"/>
                <a:sym typeface="Century Gothic Paneuropean"/>
              </a:rPr>
              <a:t>.</a:t>
            </a:r>
          </a:p>
          <a:p>
            <a:pPr>
              <a:lnSpc>
                <a:spcPct val="150000"/>
              </a:lnSpc>
            </a:pPr>
            <a:r>
              <a:rPr lang="en-US" sz="2800" b="1" dirty="0">
                <a:solidFill>
                  <a:srgbClr val="000000"/>
                </a:solidFill>
                <a:latin typeface="Century Gothic Paneuropean"/>
                <a:ea typeface="Century Gothic Paneuropean"/>
                <a:cs typeface="Century Gothic Paneuropean"/>
                <a:sym typeface="Century Gothic Paneuropean"/>
              </a:rPr>
              <a:t>2</a:t>
            </a:r>
            <a:r>
              <a:rPr lang="en-US" sz="2800" dirty="0">
                <a:solidFill>
                  <a:srgbClr val="000000"/>
                </a:solidFill>
                <a:latin typeface="Century Gothic Paneuropean"/>
                <a:ea typeface="Century Gothic Paneuropean"/>
                <a:cs typeface="Century Gothic Paneuropean"/>
                <a:sym typeface="Century Gothic Paneuropean"/>
              </a:rPr>
              <a:t>.</a:t>
            </a:r>
            <a:r>
              <a:rPr lang="nn-NO" sz="2800" dirty="0"/>
              <a:t> </a:t>
            </a:r>
            <a:r>
              <a:rPr lang="nn-NO" sz="2800" dirty="0">
                <a:solidFill>
                  <a:schemeClr val="tx1">
                    <a:lumMod val="75000"/>
                    <a:lumOff val="25000"/>
                  </a:schemeClr>
                </a:solidFill>
              </a:rPr>
              <a:t>M. R. Khan, S. Verma</a:t>
            </a:r>
            <a:r>
              <a:rPr lang="en-US" sz="2800" dirty="0">
                <a:solidFill>
                  <a:srgbClr val="000000"/>
                </a:solidFill>
                <a:latin typeface="Century Gothic Paneuropean"/>
                <a:ea typeface="Century Gothic Paneuropean"/>
                <a:cs typeface="Century Gothic Paneuropean"/>
                <a:sym typeface="Century Gothic Paneuropean"/>
              </a:rPr>
              <a:t>,”</a:t>
            </a:r>
            <a:r>
              <a:rPr lang="en-US" sz="2800" dirty="0"/>
              <a:t> Design and Implementation of Web-Based Collaborative IDE (2023)</a:t>
            </a:r>
            <a:r>
              <a:rPr lang="en-US" sz="2800" dirty="0">
                <a:solidFill>
                  <a:srgbClr val="000000"/>
                </a:solidFill>
                <a:latin typeface="Century Gothic Paneuropean"/>
                <a:ea typeface="Century Gothic Paneuropean"/>
                <a:cs typeface="Century Gothic Paneuropean"/>
                <a:sym typeface="Century Gothic Paneuropean"/>
              </a:rPr>
              <a:t>”. </a:t>
            </a:r>
            <a:r>
              <a:rPr lang="en-US" sz="2800" dirty="0">
                <a:solidFill>
                  <a:schemeClr val="tx1">
                    <a:lumMod val="75000"/>
                    <a:lumOff val="25000"/>
                  </a:schemeClr>
                </a:solidFill>
              </a:rPr>
              <a:t>Development of a browser-based IDE supporting multi-user collaboration and integrated chat system.</a:t>
            </a:r>
          </a:p>
          <a:p>
            <a:pPr algn="just">
              <a:lnSpc>
                <a:spcPct val="150000"/>
              </a:lnSpc>
            </a:pPr>
            <a:r>
              <a:rPr lang="en-US" sz="2800" b="1" dirty="0">
                <a:solidFill>
                  <a:srgbClr val="000000"/>
                </a:solidFill>
                <a:latin typeface="Century Gothic Paneuropean"/>
                <a:ea typeface="Century Gothic Paneuropean"/>
                <a:cs typeface="Century Gothic Paneuropean"/>
                <a:sym typeface="Century Gothic Paneuropean"/>
              </a:rPr>
              <a:t>3</a:t>
            </a:r>
            <a:r>
              <a:rPr lang="en-US" sz="2800" dirty="0">
                <a:solidFill>
                  <a:srgbClr val="000000"/>
                </a:solidFill>
                <a:latin typeface="Century Gothic Paneuropean"/>
                <a:ea typeface="Century Gothic Paneuropean"/>
                <a:cs typeface="Century Gothic Paneuropean"/>
                <a:sym typeface="Century Gothic Paneuropean"/>
              </a:rPr>
              <a:t>.</a:t>
            </a:r>
            <a:r>
              <a:rPr lang="en-IN" sz="2800" dirty="0">
                <a:solidFill>
                  <a:schemeClr val="tx1">
                    <a:lumMod val="75000"/>
                    <a:lumOff val="25000"/>
                  </a:schemeClr>
                </a:solidFill>
              </a:rPr>
              <a:t>Y. Liu, H. Zhang</a:t>
            </a:r>
            <a:r>
              <a:rPr lang="en-IN" sz="2800" dirty="0"/>
              <a:t>,</a:t>
            </a:r>
            <a:r>
              <a:rPr lang="en-US" sz="2800" dirty="0"/>
              <a:t> “Efficient Conflict Resolution in Real-Time Collaborative Editing Systems (2023)”</a:t>
            </a:r>
            <a:r>
              <a:rPr lang="en-US" sz="2800" dirty="0">
                <a:solidFill>
                  <a:schemeClr val="tx1">
                    <a:lumMod val="75000"/>
                    <a:lumOff val="25000"/>
                  </a:schemeClr>
                </a:solidFill>
              </a:rPr>
              <a:t>.Improved conflict resolution techniques using optimized Operational Transformation algorithms.</a:t>
            </a:r>
          </a:p>
          <a:p>
            <a:pPr algn="just">
              <a:lnSpc>
                <a:spcPct val="150000"/>
              </a:lnSpc>
            </a:pPr>
            <a:r>
              <a:rPr lang="en-US" sz="2800" dirty="0">
                <a:solidFill>
                  <a:srgbClr val="000000"/>
                </a:solidFill>
                <a:latin typeface="Century Gothic Paneuropean"/>
                <a:ea typeface="Century Gothic Paneuropean"/>
                <a:cs typeface="Century Gothic Paneuropean"/>
                <a:sym typeface="Century Gothic Paneuropean"/>
              </a:rPr>
              <a:t>4.</a:t>
            </a:r>
            <a:r>
              <a:rPr lang="en-IN" sz="2800" dirty="0"/>
              <a:t> </a:t>
            </a:r>
            <a:r>
              <a:rPr lang="en-IN" sz="2800" dirty="0">
                <a:solidFill>
                  <a:schemeClr val="tx1">
                    <a:lumMod val="75000"/>
                    <a:lumOff val="25000"/>
                  </a:schemeClr>
                </a:solidFill>
              </a:rPr>
              <a:t>P. Nair, T. Joseph</a:t>
            </a:r>
            <a:r>
              <a:rPr lang="en-US" sz="2800" dirty="0">
                <a:solidFill>
                  <a:srgbClr val="000000"/>
                </a:solidFill>
                <a:latin typeface="Century Gothic Paneuropean"/>
                <a:ea typeface="Century Gothic Paneuropean"/>
                <a:cs typeface="Century Gothic Paneuropean"/>
                <a:sym typeface="Century Gothic Paneuropean"/>
              </a:rPr>
              <a:t>,”</a:t>
            </a:r>
            <a:r>
              <a:rPr lang="en-US" sz="2800" dirty="0"/>
              <a:t> Scalable Real-Time Collaboration Using CRDT in Distributed Applications (2024)</a:t>
            </a:r>
            <a:r>
              <a:rPr lang="en-US" sz="2800" dirty="0">
                <a:solidFill>
                  <a:srgbClr val="000000"/>
                </a:solidFill>
                <a:latin typeface="Century Gothic Paneuropean"/>
                <a:ea typeface="Century Gothic Paneuropean"/>
                <a:cs typeface="Century Gothic Paneuropean"/>
                <a:sym typeface="Century Gothic Paneuropean"/>
              </a:rPr>
              <a:t>”. </a:t>
            </a:r>
            <a:r>
              <a:rPr lang="en-US" sz="2800" dirty="0">
                <a:solidFill>
                  <a:schemeClr val="tx1">
                    <a:lumMod val="75000"/>
                    <a:lumOff val="25000"/>
                  </a:schemeClr>
                </a:solidFill>
              </a:rPr>
              <a:t>Use of CRDT to improve scalability and consistency in collaborative web applications.</a:t>
            </a:r>
          </a:p>
          <a:p>
            <a:pPr algn="just">
              <a:lnSpc>
                <a:spcPct val="150000"/>
              </a:lnSpc>
            </a:pPr>
            <a:endParaRPr lang="en-US" sz="2800" dirty="0">
              <a:solidFill>
                <a:srgbClr val="000000"/>
              </a:solidFill>
              <a:latin typeface="Century Gothic Paneuropean"/>
              <a:ea typeface="Century Gothic Paneuropean"/>
              <a:cs typeface="Century Gothic Paneuropean"/>
              <a:sym typeface="Century Gothic Paneuropean"/>
            </a:endParaRP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875411" y="345797"/>
            <a:ext cx="8537178" cy="1260033"/>
          </a:xfrm>
          <a:prstGeom prst="rect">
            <a:avLst/>
          </a:prstGeom>
        </p:spPr>
        <p:txBody>
          <a:bodyPr lIns="0" tIns="0" rIns="0" bIns="0" rtlCol="0" anchor="t">
            <a:spAutoFit/>
          </a:bodyPr>
          <a:lstStyle/>
          <a:p>
            <a:pPr algn="ctr">
              <a:lnSpc>
                <a:spcPts val="10349"/>
              </a:lnSpc>
            </a:pPr>
            <a:r>
              <a:rPr lang="en-US" sz="7392" b="1" dirty="0">
                <a:solidFill>
                  <a:srgbClr val="000000"/>
                </a:solidFill>
                <a:latin typeface="Century Gothic Paneuropean Bold"/>
                <a:ea typeface="Century Gothic Paneuropean Bold"/>
                <a:cs typeface="Century Gothic Paneuropean Bold"/>
                <a:sym typeface="Century Gothic Paneuropean Bold"/>
              </a:rPr>
              <a:t>CONCLUSION</a:t>
            </a:r>
          </a:p>
        </p:txBody>
      </p:sp>
      <p:sp>
        <p:nvSpPr>
          <p:cNvPr id="3" name="TextBox 3"/>
          <p:cNvSpPr txBox="1"/>
          <p:nvPr/>
        </p:nvSpPr>
        <p:spPr>
          <a:xfrm>
            <a:off x="1904499" y="1900340"/>
            <a:ext cx="14479001" cy="5103833"/>
          </a:xfrm>
          <a:prstGeom prst="rect">
            <a:avLst/>
          </a:prstGeom>
        </p:spPr>
        <p:txBody>
          <a:bodyPr lIns="0" tIns="0" rIns="0" bIns="0" rtlCol="0" anchor="t">
            <a:spAutoFit/>
          </a:bodyPr>
          <a:lstStyle/>
          <a:p>
            <a:pPr>
              <a:lnSpc>
                <a:spcPct val="150000"/>
              </a:lnSpc>
            </a:pPr>
            <a:r>
              <a:rPr lang="en-US" sz="2800" dirty="0">
                <a:solidFill>
                  <a:schemeClr val="tx1">
                    <a:lumMod val="65000"/>
                    <a:lumOff val="35000"/>
                  </a:schemeClr>
                </a:solidFill>
                <a:latin typeface="Corbel" panose="020B0503020204020204" pitchFamily="34" charset="0"/>
              </a:rPr>
              <a:t>The Collaborative Code Editor project provides a modern solution for real-time collaborative programming. It allows multiple users to work together in a shared coding environment with secure login, room-based access, and integrated chat support. By combining real-time synchronization and a user-friendly interface inspired by Visual Studio Code, the system improves teamwork and coding </a:t>
            </a:r>
            <a:r>
              <a:rPr lang="en-US" sz="2800" dirty="0" err="1">
                <a:solidFill>
                  <a:schemeClr val="tx1">
                    <a:lumMod val="65000"/>
                    <a:lumOff val="35000"/>
                  </a:schemeClr>
                </a:solidFill>
                <a:latin typeface="Corbel" panose="020B0503020204020204" pitchFamily="34" charset="0"/>
              </a:rPr>
              <a:t>efficiency.This</a:t>
            </a:r>
            <a:r>
              <a:rPr lang="en-US" sz="2800" dirty="0">
                <a:solidFill>
                  <a:schemeClr val="tx1">
                    <a:lumMod val="65000"/>
                    <a:lumOff val="35000"/>
                  </a:schemeClr>
                </a:solidFill>
                <a:latin typeface="Corbel" panose="020B0503020204020204" pitchFamily="34" charset="0"/>
              </a:rPr>
              <a:t> project demonstrates how web technologies and real-time communication tools can be used to build an effective collaborative development platform.</a:t>
            </a:r>
          </a:p>
          <a:p>
            <a:pPr>
              <a:lnSpc>
                <a:spcPct val="150000"/>
              </a:lnSpc>
            </a:pPr>
            <a:r>
              <a:rPr lang="en-US" sz="2800" dirty="0">
                <a:solidFill>
                  <a:schemeClr val="tx1">
                    <a:lumMod val="65000"/>
                    <a:lumOff val="35000"/>
                  </a:schemeClr>
                </a:solidFill>
                <a:latin typeface="Corbel" panose="020B0503020204020204" pitchFamily="34" charset="0"/>
              </a:rPr>
              <a:t> In the future, the system can be enhanced with advanced features such as version control integration, debugging support, and multi-language execution.</a:t>
            </a: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950481" y="4013348"/>
            <a:ext cx="12387037" cy="2031703"/>
          </a:xfrm>
          <a:prstGeom prst="rect">
            <a:avLst/>
          </a:prstGeom>
        </p:spPr>
        <p:txBody>
          <a:bodyPr lIns="0" tIns="0" rIns="0" bIns="0" rtlCol="0" anchor="t">
            <a:spAutoFit/>
          </a:bodyPr>
          <a:lstStyle/>
          <a:p>
            <a:pPr algn="ctr">
              <a:lnSpc>
                <a:spcPts val="16641"/>
              </a:lnSpc>
            </a:pPr>
            <a:r>
              <a:rPr lang="en-US" sz="11886" b="1" dirty="0">
                <a:solidFill>
                  <a:srgbClr val="000000"/>
                </a:solidFill>
                <a:latin typeface="Century Gothic Paneuropean Bold"/>
                <a:ea typeface="Century Gothic Paneuropean Bold"/>
                <a:cs typeface="Century Gothic Paneuropean Bold"/>
                <a:sym typeface="Century Gothic Paneuropean Bold"/>
              </a:rPr>
              <a:t>THANK YOU!</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285</TotalTime>
  <Words>1139</Words>
  <Application>Microsoft Office PowerPoint</Application>
  <PresentationFormat>Custom</PresentationFormat>
  <Paragraphs>82</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Century Gothic Paneuropean Bold</vt:lpstr>
      <vt:lpstr>Glacial Indifference Bold</vt:lpstr>
      <vt:lpstr>Arial</vt:lpstr>
      <vt:lpstr>Wingdings 3</vt:lpstr>
      <vt:lpstr>Corbel</vt:lpstr>
      <vt:lpstr>Glacial Indifference</vt:lpstr>
      <vt:lpstr>Century Gothic</vt:lpstr>
      <vt:lpstr>Century Gothic Paneuropean</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nlp research studio : A multimodel ai framework</dc:title>
  <dc:creator>Sutharsun M</dc:creator>
  <cp:lastModifiedBy>Sutharsun M</cp:lastModifiedBy>
  <cp:revision>4</cp:revision>
  <dcterms:created xsi:type="dcterms:W3CDTF">2006-08-16T00:00:00Z</dcterms:created>
  <dcterms:modified xsi:type="dcterms:W3CDTF">2026-02-23T14:25:30Z</dcterms:modified>
  <dc:identifier>DAG_uFkUMfw</dc:identifier>
</cp:coreProperties>
</file>